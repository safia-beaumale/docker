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embeddedFontLst>
    <p:embeddedFont>
      <p:font typeface="JetBrains Mono" panose="02000009000000000000" pitchFamily="49" charset="0"/>
      <p:regular r:id="rId21"/>
      <p:bold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font" Target="fonts/font1.fntdata"/><Relationship Id="rId2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30 s. Se présenter. Le projet : un serveur Mattermost pour l’entreprise, relié en temps réel à Discord par un bridge que nous avons écrit, le tout dans un stack Docker Compose.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min. Le problème de l’énoncé : des utilisateurs dispersés sur des messageries concurrentes. Nous avons choisi Mattermost comme service de l’entreprise et Discord comme service externe, parce que c’est là que sont les utilisateurs. Le bridge fait passer tout ce qui compte : messages, réactions, fichiers et même les sondages.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min 30. Le navigateur n’entre que par Nginx, sur le port 80. Nginx, Gatus et le bridge sont sur le réseau frontend. PostgreSQL est seul dans le réseau backend, qui est déclaré internal : true. Mattermost est le seul service présent sur les deux réseaux : c’est lui qui fait le pont vers la base. Le bridge parle à Mattermost par son API et à Discord par sa Gateway. Il n’a jamais accès à la base. (Clic : apparition des deux annotations.)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min. Trois idées. 1) Surface d’exposition minimale : un seul port publié. 2) Réseau internal : même compromise, la base ne peut rien télécharger ni exfiltrer. Preuve en bas : depuis le conteneur db, wget ne résout même pas example.com. 3) DNS interne : Nginx utilise le résolveur 127.0.0.11 avec une variable, donc il re-résout l’adresse et ne renvoie pas de 502 quand Mattermost est recréé. Le même port 80 sert Mattermost et la page de statut grâce au nom d’hôte.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min. Pourquoi ne pas avoir pris Matterbridge : nous l’avons d’abord utilisé, mais il n’est plus maintenu et il perd les réactions, les stickers et les sondages. Nous avons donc écrit notre propre bridge en TypeScript, environ 1 400 lignes. Tout est relayé dans les deux sens, sauf les stickers : Mattermost n’en a pas. Le sondage est le cas le plus avancé : chaque plateforme vote avec ses propres outils et le bridge additionne les résultats.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min. Cliquer pour faire apparaître chaque étape. Dans l’autre sens, c’est la même chose : le bridge écoute le WebSocket de Mattermost et poste sur Discord via un webhook, sous le nom de l’auteur Mattermost. Pour les sondages, Mattermost rappelle le bridge sur bridge:8080 quand on clique sur un bouton de vote, ce qui est autorisé par la variable ALLOWEDUNTRUSTEDINTERNALCONNECTIONS=bridge.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min. Sans healthcheck, depends_on attend seulement que le conteneur démarre : Mattermost planterait en essayant de joindre une base pas encore prête. Ici, chaque service a une vraie sonde. Celle du bridge est la plus intéressante : il renvoie 503 tant que la connexion Discord ou la connexion Mattermost est coupée, donc « healthy » veut vraiment dire « les messages passent ». Gatus réutilise ces mêmes sondes pour la page de statut.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min. Chaque service a son Dockerfile dans mattermost/&lt;service&gt;. Le bridge montre le build multi-stage : on compile le TypeScript et on génère la table d’emoji dans un premier stage, puis on ne copie que le JavaScript et les dépendances de production. Gatus est un cas amusant : son image est FROM scratch, sans shell, donc on prépare le dossier /data dans un stage Alpine pour pouvoir le faire tourner en non-root. Si on a le temps : docker image ls pour montrer la taille.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min. Quatre couches. Le réseau, qu’on a déjà vu. Les conteneurs : aucune capability Linux par défaut ; seuls PostgreSQL et Nginx en récupèrent quelques-unes, listées explicitement, pour changer d’utilisateur au démarrage et écouter sur le port 80. no-new-privileges bloque l’escalade par un binaire setuid. Nginx, le bridge et Gatus ont un système de fichiers en lecture seule. Les secrets : le .env n’est jamais versionné et les identifiants de base sont obligatoires. Les ressources : on y revient dans deux slides. La preuve en bas : le bridge tourne en node et ne peut pas écrire dans son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min. Deux fragments YAML : x-common pour le redémarrage et la rotation des logs, x-hardened pour le durcissement. Chaque service les fusionne avec la clé de merge. Côté variables : les identifiants PostgreSQL sont obligatoires, avec un message clair s’ils manquent ; le reste a des valeurs par défaut ; et la chaîne de connexion de Mattermost est construite à partir des variables PostgreSQL, donc le mot de passe n’est saisi qu’une fois. Les variables du bridge restent facultatives exprès : le token du bot Mattermost n’existe qu’après l’installation.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45 s. Les cgroups sont déclarés dans deploy.resources.limits : CPU, mémoire et nombre de processus. Les limites sont larges par rapport à la consommation au repos mesurée avec docker stats : elles ne gênent pas le fonctionnement normal, elles servent à contenir un service qui déraille. Pendant la démo, lancer docker stats --no-stream pour montrer « utilisé / limite » sur le vrai stack (refaire la mesure : ces chiffres viennent d’une instance de test sans utilisateurs).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min. Le fichier de dev ne réécrit pas la prod : il ne contient que les différences, et Compose fusionne les deux. Compose Watch : quand on modifie la configuration Nginx ou Gatus, le fichier est copié dans le conteneur puis le service redémarre ; pour le bridge, qui est compilé, Watch relance le build multi-stage. En dev, on expose PostgreSQL, Mattermost et le bridge, mais seulement sur 127.0.0.1. Détail intéressant : Docker ne publie pas les ports d’un réseau interne, donc le backend repasse en internal: false en dev. Adminer n’est lancé qu’avec le profil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min. Avant la soutenance : stack déjà lancé et healthy, Discord et Mattermost ouverts côte à côte, un terminal prêt avec les commandes. Plan B : une vidéo de la démo enregistrée à l’avance, au cas où le réseau de la salle bloque Discord. Sondage : !sondage Pizza ou burger ? | Pizza | Burger. Pour Watch, lancer le stack de dev dans un terminal séparé et ajouter un commentaire dans nginx.conf : Compose affiche « Syncing service nginx » puis redémarre le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45 s. La colonne de gauche reprend les indicateurs de complétion de l’énoncé, un par un. Pistes : HTTPS avec un certificat sur Nginx ; passer les tokens en secrets Docker, ce qui demande d’apprendre au bridge à lire des fichiers ; ajouter la visio avec le plugin Mattermost Calls et rtcd ; relier plusieurs salons ou d’autres messageries.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7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31" y="1102277"/>
            <a:ext cx="10566453" cy="447015"/>
          </a:xfrm>
          <a:prstGeom prst="rect">
            <a:avLst/>
          </a:prstGeom>
          <a:noFill/>
          <a:ln/>
        </p:spPr>
        <p:txBody>
          <a:bodyPr wrap="square" lIns="0" tIns="0" rIns="0" bIns="0" rtlCol="0" anchor="t"/>
          <a:lstStyle>
            <a:lvl1pPr algn="l" indent="0" marL="0">
              <a:lnSpc>
                <a:spcPct val="115000"/>
              </a:lnSpc>
              <a:buNone/>
              <a:defRPr lang="en-US" sz="3200" dirty="0">
                <a:solidFill>
                  <a:srgbClr val="0F1B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31" y="1854092"/>
            <a:ext cx="10566469" cy="4191108"/>
          </a:xfrm>
          <a:prstGeom prst="rect">
            <a:avLst/>
          </a:prstGeom>
          <a:noFill/>
          <a:ln/>
        </p:spPr>
        <p:txBody>
          <a:bodyPr wrap="square" lIns="0" tIns="0" rIns="0" bIns="0" rtlCol="0" anchor="t"/>
          <a:lstStyle>
            <a:lvl1pPr algn="l" indent="0" marL="0">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7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31" y="1102277"/>
            <a:ext cx="10566453" cy="447015"/>
          </a:xfrm>
          <a:prstGeom prst="rect">
            <a:avLst/>
          </a:prstGeom>
          <a:noFill/>
          <a:ln/>
        </p:spPr>
        <p:txBody>
          <a:bodyPr wrap="square" lIns="0" tIns="0" rIns="0" bIns="0" rtlCol="0" anchor="t"/>
          <a:lstStyle>
            <a:lvl1pPr algn="l" indent="0" marL="0">
              <a:lnSpc>
                <a:spcPct val="115000"/>
              </a:lnSpc>
              <a:buNone/>
              <a:defRPr lang="en-US" sz="3200" dirty="0">
                <a:solidFill>
                  <a:srgbClr val="0F1B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31" y="1854092"/>
            <a:ext cx="10566469" cy="4191108"/>
          </a:xfrm>
          <a:prstGeom prst="rect">
            <a:avLst/>
          </a:prstGeom>
          <a:noFill/>
          <a:ln/>
        </p:spPr>
        <p:txBody>
          <a:bodyPr wrap="square" lIns="0" tIns="0" rIns="0" bIns="0" rtlCol="0" anchor="t"/>
          <a:lstStyle>
            <a:lvl1pPr algn="l" indent="0" marL="0">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2.xml"/><Relationship Id="rId9"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731" y="812731"/>
            <a:ext cx="10883447" cy="238778"/>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FA8FF"/>
                </a:solidFill>
                <a:latin typeface="JetBrains Mono" pitchFamily="49" charset="0"/>
                <a:ea typeface="JetBrains Mono" pitchFamily="49" charset="-122"/>
                <a:cs typeface="JetBrains Mono" pitchFamily="49" charset="-120"/>
              </a:rPr>
              <a:t>PROJET DOCKER · MASTÈRE 2 EXPERT FULL-STACK</a:t>
            </a:r>
            <a:endParaRPr lang="en-US" sz="1200" dirty="0"/>
          </a:p>
        </p:txBody>
      </p:sp>
      <p:sp>
        <p:nvSpPr>
          <p:cNvPr id="3" name="Text 1"/>
          <p:cNvSpPr/>
          <p:nvPr>
            <p:ph type="title"/>
          </p:nvPr>
        </p:nvSpPr>
        <p:spPr>
          <a:xfrm>
            <a:off x="812731" y="2597312"/>
            <a:ext cx="6540439" cy="772048"/>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5F7FA"/>
                </a:solidFill>
                <a:latin typeface="IBM Plex Sans" pitchFamily="34" charset="0"/>
                <a:ea typeface="IBM Plex Sans" pitchFamily="34" charset="-122"/>
                <a:cs typeface="IBM Plex Sans" pitchFamily="34" charset="-120"/>
              </a:rPr>
              <a:t>IM Bridge</a:t>
            </a:r>
            <a:endParaRPr lang="en-US" sz="5600" dirty="0"/>
          </a:p>
        </p:txBody>
      </p:sp>
      <p:sp>
        <p:nvSpPr>
          <p:cNvPr id="4" name="Text 2"/>
          <p:cNvSpPr/>
          <p:nvPr/>
        </p:nvSpPr>
        <p:spPr>
          <a:xfrm>
            <a:off x="812731" y="3547077"/>
            <a:ext cx="6540439" cy="685706"/>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B4C0D3"/>
                </a:solidFill>
                <a:latin typeface="IBM Plex Sans" pitchFamily="34" charset="0"/>
                <a:ea typeface="IBM Plex Sans" pitchFamily="34" charset="-122"/>
                <a:cs typeface="IBM Plex Sans" pitchFamily="34" charset="-120"/>
              </a:rPr>
              <a:t>Relier Mattermost et Discord dans un stack Docker Compose sécurisé</a:t>
            </a:r>
            <a:endParaRPr lang="en-US" sz="2000" dirty="0"/>
          </a:p>
        </p:txBody>
      </p:sp>
      <p:sp>
        <p:nvSpPr>
          <p:cNvPr id="5" name="Text 3"/>
          <p:cNvSpPr/>
          <p:nvPr/>
        </p:nvSpPr>
        <p:spPr>
          <a:xfrm>
            <a:off x="812731" y="5778586"/>
            <a:ext cx="4414152" cy="292079"/>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7FA"/>
                </a:solidFill>
                <a:latin typeface="IBM Plex Sans" pitchFamily="34" charset="0"/>
                <a:ea typeface="IBM Plex Sans" pitchFamily="34" charset="-122"/>
                <a:cs typeface="IBM Plex Sans" pitchFamily="34" charset="-120"/>
              </a:rPr>
              <a:t>Safia Beaumale / Alexis Feron / Kirill Rosier</a:t>
            </a:r>
            <a:endParaRPr lang="en-US" sz="1500" dirty="0"/>
          </a:p>
        </p:txBody>
      </p:sp>
      <p:sp>
        <p:nvSpPr>
          <p:cNvPr id="6" name="Text 4"/>
          <p:cNvSpPr/>
          <p:nvPr/>
        </p:nvSpPr>
        <p:spPr>
          <a:xfrm>
            <a:off x="10307705" y="5831887"/>
            <a:ext cx="1071479" cy="238778"/>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4C0D3"/>
                </a:solidFill>
                <a:latin typeface="IBM Plex Sans" pitchFamily="34" charset="0"/>
                <a:ea typeface="IBM Plex Sans" pitchFamily="34" charset="-122"/>
                <a:cs typeface="IBM Plex Sans" pitchFamily="34" charset="-120"/>
              </a:rPr>
              <a:t>2026 – 2027</a:t>
            </a:r>
            <a:endParaRPr lang="en-US" sz="1200" dirty="0"/>
          </a:p>
        </p:txBody>
      </p:sp>
      <p:sp>
        <p:nvSpPr>
          <p:cNvPr id="7" name="Text 5"/>
          <p:cNvSpPr/>
          <p:nvPr/>
        </p:nvSpPr>
        <p:spPr>
          <a:xfrm>
            <a:off x="7492998" y="2793995"/>
            <a:ext cx="1587464" cy="698477"/>
          </a:xfrm>
          <a:prstGeom prst="roundRect">
            <a:avLst>
              <a:gd name="adj" fmla="val 16364"/>
            </a:avLst>
          </a:prstGeom>
          <a:solidFill>
            <a:srgbClr val="2F6FED"/>
          </a:solidFill>
          <a:ln/>
        </p:spPr>
        <p:txBody>
          <a:bodyPr wrap="square" lIns="0" tIns="0" rIns="0" bIns="0" rtlCol="0" anchor="ctr">
            <a:normAutofit/>
          </a:bodyPr>
          <a:lstStyle/>
          <a:p>
            <a:pPr algn="ctr" indent="0" marL="0">
              <a:lnSpc>
                <a:spcPts val="2100"/>
              </a:lnSpc>
              <a:buNone/>
            </a:pPr>
            <a:r>
              <a:rPr lang="en-US" sz="1500" b="1" dirty="0">
                <a:solidFill>
                  <a:srgbClr val="F7F9FC"/>
                </a:solidFill>
                <a:latin typeface="IBM Plex Sans" pitchFamily="34" charset="0"/>
                <a:ea typeface="IBM Plex Sans" pitchFamily="34" charset="-122"/>
                <a:cs typeface="IBM Plex Sans" pitchFamily="34" charset="-120"/>
              </a:rPr>
              <a:t>Mattermost</a:t>
            </a:r>
            <a:endParaRPr lang="en-US" sz="1500" dirty="0"/>
          </a:p>
        </p:txBody>
      </p:sp>
      <p:sp>
        <p:nvSpPr>
          <p:cNvPr id="8" name="Text 6"/>
          <p:cNvSpPr/>
          <p:nvPr/>
        </p:nvSpPr>
        <p:spPr>
          <a:xfrm>
            <a:off x="9791634" y="2793995"/>
            <a:ext cx="1587464" cy="698477"/>
          </a:xfrm>
          <a:prstGeom prst="roundRect">
            <a:avLst>
              <a:gd name="adj" fmla="val 16364"/>
            </a:avLst>
          </a:prstGeom>
          <a:solidFill>
            <a:srgbClr val="E8833A"/>
          </a:solidFill>
          <a:ln/>
        </p:spPr>
        <p:txBody>
          <a:bodyPr wrap="square" lIns="0" tIns="0" rIns="0" bIns="0" rtlCol="0" anchor="ctr">
            <a:normAutofit/>
          </a:bodyPr>
          <a:lstStyle/>
          <a:p>
            <a:pPr algn="ctr" indent="0" marL="0">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Discord</a:t>
            </a:r>
            <a:endParaRPr lang="en-US" sz="1500" dirty="0"/>
          </a:p>
        </p:txBody>
      </p:sp>
      <p:pic>
        <p:nvPicPr>
          <p:cNvPr id="9" name="Image 0" descr="connector">    </p:cNvPr>
          <p:cNvPicPr>
            <a:picLocks noChangeAspect="1"/>
          </p:cNvPicPr>
          <p:nvPr/>
        </p:nvPicPr>
        <p:blipFill>
          <a:blip r:embed="rId1"/>
          <a:srcRect l="-16" r="-16" t="0" b="0"/>
          <a:stretch/>
        </p:blipFill>
        <p:spPr>
          <a:xfrm>
            <a:off x="9016988" y="3079716"/>
            <a:ext cx="838120" cy="126948"/>
          </a:xfrm>
          <a:prstGeom prst="rect">
            <a:avLst/>
          </a:prstGeom>
        </p:spPr>
      </p:pic>
      <p:sp>
        <p:nvSpPr>
          <p:cNvPr id="10" name="Text 7"/>
          <p:cNvSpPr/>
          <p:nvPr/>
        </p:nvSpPr>
        <p:spPr>
          <a:xfrm>
            <a:off x="8737517" y="3619421"/>
            <a:ext cx="1396975" cy="238778"/>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FA8FF"/>
                </a:solidFill>
                <a:latin typeface="JetBrains Mono" pitchFamily="49" charset="0"/>
                <a:ea typeface="JetBrains Mono" pitchFamily="49" charset="-122"/>
                <a:cs typeface="JetBrains Mono" pitchFamily="49" charset="-120"/>
              </a:rPr>
              <a:t>bridge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731" y="812731"/>
            <a:ext cx="10883447" cy="238778"/>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F6FED"/>
                </a:solidFill>
                <a:latin typeface="JetBrains Mono" pitchFamily="49" charset="0"/>
                <a:ea typeface="JetBrains Mono" pitchFamily="49" charset="-122"/>
                <a:cs typeface="JetBrains Mono" pitchFamily="49" charset="-120"/>
              </a:rPr>
              <a:t>CONTEXTE</a:t>
            </a:r>
            <a:endParaRPr lang="en-US" sz="1200" dirty="0"/>
          </a:p>
        </p:txBody>
      </p:sp>
      <p:sp>
        <p:nvSpPr>
          <p:cNvPr id="3" name="Text 1"/>
          <p:cNvSpPr/>
          <p:nvPr>
            <p:ph type="title"/>
          </p:nvPr>
        </p:nvSpPr>
        <p:spPr>
          <a:xfrm>
            <a:off x="812731" y="1102278"/>
            <a:ext cx="10883447" cy="472415"/>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Une équipe, deux messageries</a:t>
            </a:r>
            <a:endParaRPr lang="en-US" sz="3200" dirty="0"/>
          </a:p>
        </p:txBody>
      </p:sp>
      <p:sp>
        <p:nvSpPr>
          <p:cNvPr id="4" name="Text 2"/>
          <p:cNvSpPr/>
          <p:nvPr/>
        </p:nvSpPr>
        <p:spPr>
          <a:xfrm>
            <a:off x="812731" y="1854055"/>
            <a:ext cx="10883447" cy="711095"/>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46536A"/>
                </a:solidFill>
                <a:latin typeface="IBM Plex Sans" pitchFamily="34" charset="0"/>
                <a:ea typeface="IBM Plex Sans" pitchFamily="34" charset="-122"/>
                <a:cs typeface="IBM Plex Sans" pitchFamily="34" charset="-120"/>
              </a:rPr>
              <a:t>L’entreprise travaille sur Mattermost, mais une partie des utilisateurs reste sur Discord et ne veut pas changer d’outil.</a:t>
            </a:r>
            <a:endParaRPr lang="en-US" sz="2000" dirty="0"/>
          </a:p>
        </p:txBody>
      </p:sp>
      <p:sp>
        <p:nvSpPr>
          <p:cNvPr id="5" name="Shape 3"/>
          <p:cNvSpPr/>
          <p:nvPr/>
        </p:nvSpPr>
        <p:spPr>
          <a:xfrm>
            <a:off x="1270093" y="2844514"/>
            <a:ext cx="2539924" cy="962460"/>
          </a:xfrm>
          <a:prstGeom prst="roundRect">
            <a:avLst>
              <a:gd name="adj" fmla="val 11876"/>
            </a:avLst>
          </a:prstGeom>
          <a:solidFill>
            <a:srgbClr val="2F6FED"/>
          </a:solidFill>
          <a:ln/>
        </p:spPr>
      </p:sp>
      <p:sp>
        <p:nvSpPr>
          <p:cNvPr id="6" name="Text 4"/>
          <p:cNvSpPr/>
          <p:nvPr/>
        </p:nvSpPr>
        <p:spPr>
          <a:xfrm>
            <a:off x="1720620" y="3047631"/>
            <a:ext cx="1638782" cy="330163"/>
          </a:xfrm>
          <a:prstGeom prst="rect">
            <a:avLst/>
          </a:prstGeom>
          <a:noFill/>
          <a:ln/>
        </p:spPr>
        <p:txBody>
          <a:bodyPr wrap="square" lIns="0" tIns="0" rIns="0" bIns="0" rtlCol="0" anchor="t">
            <a:normAutofit/>
          </a:bodyPr>
          <a:lstStyle/>
          <a:p>
            <a:pPr algn="ctr" indent="0" marL="0">
              <a:lnSpc>
                <a:spcPts val="2400"/>
              </a:lnSpc>
              <a:buNone/>
            </a:pPr>
            <a:r>
              <a:rPr lang="en-US" sz="2000" b="1" dirty="0">
                <a:solidFill>
                  <a:srgbClr val="F7F9FC"/>
                </a:solidFill>
                <a:latin typeface="IBM Plex Sans" pitchFamily="34" charset="0"/>
                <a:ea typeface="IBM Plex Sans" pitchFamily="34" charset="-122"/>
                <a:cs typeface="IBM Plex Sans" pitchFamily="34" charset="-120"/>
              </a:rPr>
              <a:t>Mattermost</a:t>
            </a:r>
            <a:endParaRPr lang="en-US" sz="2000" dirty="0"/>
          </a:p>
        </p:txBody>
      </p:sp>
      <p:sp>
        <p:nvSpPr>
          <p:cNvPr id="7" name="Text 5"/>
          <p:cNvSpPr/>
          <p:nvPr/>
        </p:nvSpPr>
        <p:spPr>
          <a:xfrm>
            <a:off x="1457681" y="3390479"/>
            <a:ext cx="2164661" cy="238778"/>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7F9FC"/>
                </a:solidFill>
                <a:latin typeface="IBM Plex Sans" pitchFamily="34" charset="0"/>
                <a:ea typeface="IBM Plex Sans" pitchFamily="34" charset="-122"/>
                <a:cs typeface="IBM Plex Sans" pitchFamily="34" charset="-120"/>
              </a:rPr>
              <a:t>messagerie de l’entreprise</a:t>
            </a:r>
            <a:endParaRPr lang="en-US" sz="1200" dirty="0"/>
          </a:p>
        </p:txBody>
      </p:sp>
      <p:pic>
        <p:nvPicPr>
          <p:cNvPr id="8" name="Image 0" descr="connector">    </p:cNvPr>
          <p:cNvPicPr>
            <a:picLocks noChangeAspect="1"/>
          </p:cNvPicPr>
          <p:nvPr/>
        </p:nvPicPr>
        <p:blipFill>
          <a:blip r:embed="rId1"/>
          <a:srcRect l="-17" r="-17" t="0" b="0"/>
          <a:stretch/>
        </p:blipFill>
        <p:spPr>
          <a:xfrm>
            <a:off x="3810017" y="3262226"/>
            <a:ext cx="1015935" cy="126948"/>
          </a:xfrm>
          <a:prstGeom prst="rect">
            <a:avLst/>
          </a:prstGeom>
        </p:spPr>
      </p:pic>
      <p:sp>
        <p:nvSpPr>
          <p:cNvPr id="9" name="Shape 6"/>
          <p:cNvSpPr/>
          <p:nvPr/>
        </p:nvSpPr>
        <p:spPr>
          <a:xfrm>
            <a:off x="4825952" y="2844514"/>
            <a:ext cx="2539924" cy="962460"/>
          </a:xfrm>
          <a:prstGeom prst="roundRect">
            <a:avLst>
              <a:gd name="adj" fmla="val 11876"/>
            </a:avLst>
          </a:prstGeom>
          <a:solidFill>
            <a:srgbClr val="0F1B2D"/>
          </a:solidFill>
          <a:ln/>
        </p:spPr>
      </p:sp>
      <p:sp>
        <p:nvSpPr>
          <p:cNvPr id="10" name="Text 7"/>
          <p:cNvSpPr/>
          <p:nvPr/>
        </p:nvSpPr>
        <p:spPr>
          <a:xfrm>
            <a:off x="5634465" y="3047631"/>
            <a:ext cx="922897" cy="330163"/>
          </a:xfrm>
          <a:prstGeom prst="rect">
            <a:avLst/>
          </a:prstGeom>
          <a:noFill/>
          <a:ln/>
        </p:spPr>
        <p:txBody>
          <a:bodyPr wrap="square" lIns="0" tIns="0" rIns="0" bIns="0" rtlCol="0" anchor="t">
            <a:normAutofit/>
          </a:bodyPr>
          <a:lstStyle/>
          <a:p>
            <a:pPr algn="ctr" indent="0" marL="0">
              <a:lnSpc>
                <a:spcPts val="2400"/>
              </a:lnSpc>
              <a:buNone/>
            </a:pPr>
            <a:r>
              <a:rPr lang="en-US" sz="2000" b="1" dirty="0">
                <a:solidFill>
                  <a:srgbClr val="F5F7FA"/>
                </a:solidFill>
                <a:latin typeface="IBM Plex Sans" pitchFamily="34" charset="0"/>
                <a:ea typeface="IBM Plex Sans" pitchFamily="34" charset="-122"/>
                <a:cs typeface="IBM Plex Sans" pitchFamily="34" charset="-120"/>
              </a:rPr>
              <a:t>Bridge</a:t>
            </a:r>
            <a:endParaRPr lang="en-US" sz="2000" dirty="0"/>
          </a:p>
        </p:txBody>
      </p:sp>
      <p:sp>
        <p:nvSpPr>
          <p:cNvPr id="11" name="Text 8"/>
          <p:cNvSpPr/>
          <p:nvPr/>
        </p:nvSpPr>
        <p:spPr>
          <a:xfrm>
            <a:off x="5346797" y="3390479"/>
            <a:ext cx="1498234" cy="238778"/>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4C0D3"/>
                </a:solidFill>
                <a:latin typeface="IBM Plex Sans" pitchFamily="34" charset="0"/>
                <a:ea typeface="IBM Plex Sans" pitchFamily="34" charset="-122"/>
                <a:cs typeface="IBM Plex Sans" pitchFamily="34" charset="-120"/>
              </a:rPr>
              <a:t>conteneur Node.js</a:t>
            </a:r>
            <a:endParaRPr lang="en-US" sz="1200" dirty="0"/>
          </a:p>
        </p:txBody>
      </p:sp>
      <p:pic>
        <p:nvPicPr>
          <p:cNvPr id="12" name="Image 1" descr="connector">    </p:cNvPr>
          <p:cNvPicPr>
            <a:picLocks noChangeAspect="1"/>
          </p:cNvPicPr>
          <p:nvPr/>
        </p:nvPicPr>
        <p:blipFill>
          <a:blip r:embed="rId2"/>
          <a:srcRect l="-17" r="-17" t="0" b="0"/>
          <a:stretch/>
        </p:blipFill>
        <p:spPr>
          <a:xfrm>
            <a:off x="7365876" y="3262226"/>
            <a:ext cx="1015935" cy="126948"/>
          </a:xfrm>
          <a:prstGeom prst="rect">
            <a:avLst/>
          </a:prstGeom>
        </p:spPr>
      </p:pic>
      <p:sp>
        <p:nvSpPr>
          <p:cNvPr id="13" name="Shape 9"/>
          <p:cNvSpPr/>
          <p:nvPr/>
        </p:nvSpPr>
        <p:spPr>
          <a:xfrm>
            <a:off x="8381811" y="2844514"/>
            <a:ext cx="2539924" cy="962460"/>
          </a:xfrm>
          <a:prstGeom prst="roundRect">
            <a:avLst>
              <a:gd name="adj" fmla="val 11876"/>
            </a:avLst>
          </a:prstGeom>
          <a:solidFill>
            <a:srgbClr val="E8833A"/>
          </a:solidFill>
          <a:ln/>
        </p:spPr>
      </p:sp>
      <p:sp>
        <p:nvSpPr>
          <p:cNvPr id="14" name="Text 10"/>
          <p:cNvSpPr/>
          <p:nvPr/>
        </p:nvSpPr>
        <p:spPr>
          <a:xfrm>
            <a:off x="9114999" y="3047631"/>
            <a:ext cx="1073462" cy="330163"/>
          </a:xfrm>
          <a:prstGeom prst="rect">
            <a:avLst/>
          </a:prstGeom>
          <a:noFill/>
          <a:ln/>
        </p:spPr>
        <p:txBody>
          <a:bodyPr wrap="square" lIns="0" tIns="0" rIns="0" bIns="0" rtlCol="0" anchor="t">
            <a:normAutofit/>
          </a:bodyPr>
          <a:lstStyle/>
          <a:p>
            <a:pPr algn="ctr"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Discord</a:t>
            </a:r>
            <a:endParaRPr lang="en-US" sz="2000" dirty="0"/>
          </a:p>
        </p:txBody>
      </p:sp>
      <p:sp>
        <p:nvSpPr>
          <p:cNvPr id="15" name="Text 11"/>
          <p:cNvSpPr/>
          <p:nvPr/>
        </p:nvSpPr>
        <p:spPr>
          <a:xfrm>
            <a:off x="8907977" y="3390479"/>
            <a:ext cx="1487592" cy="238778"/>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compte personnel</a:t>
            </a:r>
            <a:endParaRPr lang="en-US" sz="1200" dirty="0"/>
          </a:p>
        </p:txBody>
      </p:sp>
      <p:sp>
        <p:nvSpPr>
          <p:cNvPr id="16" name="Text 12"/>
          <p:cNvSpPr/>
          <p:nvPr/>
        </p:nvSpPr>
        <p:spPr>
          <a:xfrm>
            <a:off x="3572676" y="3933922"/>
            <a:ext cx="5046564" cy="238778"/>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536A"/>
                </a:solidFill>
                <a:latin typeface="IBM Plex Sans" pitchFamily="34" charset="0"/>
                <a:ea typeface="IBM Plex Sans" pitchFamily="34" charset="-122"/>
                <a:cs typeface="IBM Plex Sans" pitchFamily="34" charset="-120"/>
              </a:rPr>
              <a:t>messages · réactions · fichiers · sondages, dans les deux sens</a:t>
            </a:r>
            <a:endParaRPr lang="en-US" sz="1200" dirty="0"/>
          </a:p>
        </p:txBody>
      </p:sp>
      <p:sp>
        <p:nvSpPr>
          <p:cNvPr id="17" name="Text 13"/>
          <p:cNvSpPr/>
          <p:nvPr/>
        </p:nvSpPr>
        <p:spPr>
          <a:xfrm>
            <a:off x="812731" y="5575382"/>
            <a:ext cx="10883447" cy="292079"/>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F6FED"/>
                </a:solidFill>
                <a:latin typeface="IBM Plex Sans" pitchFamily="34" charset="0"/>
                <a:ea typeface="IBM Plex Sans" pitchFamily="34" charset="-122"/>
                <a:cs typeface="IBM Plex Sans" pitchFamily="34" charset="-120"/>
              </a:rPr>
              <a:t>Objectif :</a:t>
            </a:r>
            <a:r>
              <a:rPr lang="en-US" sz="1500" b="1" dirty="0">
                <a:solidFill>
                  <a:srgbClr val="0F1B2D"/>
                </a:solidFill>
                <a:latin typeface="IBM Plex Sans" pitchFamily="34" charset="0"/>
                <a:ea typeface="IBM Plex Sans" pitchFamily="34" charset="-122"/>
                <a:cs typeface="IBM Plex Sans" pitchFamily="34" charset="-120"/>
              </a:rPr>
              <a:t> chacun discute depuis et vers Mattermost avec son propre compte, sans quitter sa messagerie.</a:t>
            </a:r>
            <a:endParaRPr lang="en-US" sz="1500" dirty="0"/>
          </a:p>
        </p:txBody>
      </p:sp>
      <p:sp>
        <p:nvSpPr>
          <p:cNvPr id="18" name="Text 14"/>
          <p:cNvSpPr/>
          <p:nvPr/>
        </p:nvSpPr>
        <p:spPr>
          <a:xfrm>
            <a:off x="812731" y="6235688"/>
            <a:ext cx="2760554" cy="24129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9"/>
                </a:solidFill>
                <a:latin typeface="IBM Plex Sans" pitchFamily="34" charset="0"/>
                <a:ea typeface="IBM Plex Sans" pitchFamily="34" charset="-122"/>
                <a:cs typeface="IBM Plex Sans" pitchFamily="34" charset="-120"/>
              </a:rPr>
              <a:t>IM Bridge · Mattermost ⇄ Discord</a:t>
            </a:r>
            <a:endParaRPr lang="en-US" sz="1200" dirty="0"/>
          </a:p>
        </p:txBody>
      </p:sp>
      <p:sp>
        <p:nvSpPr>
          <p:cNvPr id="19" name="Text 15"/>
          <p:cNvSpPr/>
          <p:nvPr/>
        </p:nvSpPr>
        <p:spPr>
          <a:xfrm>
            <a:off x="10893598" y="6235688"/>
            <a:ext cx="485499" cy="24129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9"/>
                </a:solidFill>
                <a:latin typeface="IBM Plex Sans" pitchFamily="34" charset="0"/>
                <a:ea typeface="IBM Plex Sans" pitchFamily="34" charset="-122"/>
                <a:cs typeface="IBM Plex Sans" pitchFamily="34" charset="-120"/>
              </a:rPr>
              <a:t>2 / 14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2673310" y="1911272"/>
            <a:ext cx="6718260" cy="1892222"/>
          </a:xfrm>
          <a:prstGeom prst="roundRect">
            <a:avLst>
              <a:gd name="adj" fmla="val 6376"/>
            </a:avLst>
          </a:prstGeom>
          <a:solidFill>
            <a:srgbClr val="EAF1FE"/>
          </a:solidFill>
          <a:ln w="12700">
            <a:solidFill>
              <a:srgbClr val="2F6FED"/>
            </a:solidFill>
            <a:prstDash val="dash"/>
          </a:ln>
        </p:spPr>
      </p:sp>
      <p:sp>
        <p:nvSpPr>
          <p:cNvPr id="3" name="Shape 1"/>
          <p:cNvSpPr/>
          <p:nvPr/>
        </p:nvSpPr>
        <p:spPr>
          <a:xfrm>
            <a:off x="2673310" y="3943316"/>
            <a:ext cx="6718260" cy="1765273"/>
          </a:xfrm>
          <a:prstGeom prst="roundRect">
            <a:avLst>
              <a:gd name="adj" fmla="val 6835"/>
            </a:avLst>
          </a:prstGeom>
          <a:solidFill>
            <a:srgbClr val="FDF1E6"/>
          </a:solidFill>
          <a:ln w="12700">
            <a:solidFill>
              <a:srgbClr val="E8833A"/>
            </a:solidFill>
            <a:prstDash val="dash"/>
          </a:ln>
        </p:spPr>
      </p:sp>
      <p:sp>
        <p:nvSpPr>
          <p:cNvPr id="4" name="Text 2"/>
          <p:cNvSpPr/>
          <p:nvPr/>
        </p:nvSpPr>
        <p:spPr>
          <a:xfrm>
            <a:off x="812731" y="812732"/>
            <a:ext cx="10883447" cy="238778"/>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F6FED"/>
                </a:solidFill>
                <a:latin typeface="JetBrains Mono" pitchFamily="49" charset="0"/>
                <a:ea typeface="JetBrains Mono" pitchFamily="49" charset="-122"/>
                <a:cs typeface="JetBrains Mono" pitchFamily="49" charset="-120"/>
              </a:rPr>
              <a:t>ARCHITECTURE</a:t>
            </a:r>
            <a:endParaRPr lang="en-US" sz="1200" dirty="0"/>
          </a:p>
        </p:txBody>
      </p:sp>
      <p:sp>
        <p:nvSpPr>
          <p:cNvPr id="5" name="Text 3"/>
          <p:cNvSpPr/>
          <p:nvPr>
            <p:ph type="title"/>
          </p:nvPr>
        </p:nvSpPr>
        <p:spPr>
          <a:xfrm>
            <a:off x="812731" y="1102278"/>
            <a:ext cx="10883447" cy="472415"/>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5 services, 2 réseaux</a:t>
            </a:r>
            <a:endParaRPr lang="en-US" sz="3200" dirty="0"/>
          </a:p>
        </p:txBody>
      </p:sp>
      <p:sp>
        <p:nvSpPr>
          <p:cNvPr id="6" name="Text 4"/>
          <p:cNvSpPr/>
          <p:nvPr/>
        </p:nvSpPr>
        <p:spPr>
          <a:xfrm>
            <a:off x="2819385" y="1981178"/>
            <a:ext cx="2616122"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ED"/>
                </a:solidFill>
                <a:latin typeface="JetBrains Mono" pitchFamily="49" charset="0"/>
                <a:ea typeface="JetBrains Mono" pitchFamily="49" charset="-122"/>
                <a:cs typeface="JetBrains Mono" pitchFamily="49" charset="-120"/>
              </a:rPr>
              <a:t>réseau frontend</a:t>
            </a:r>
            <a:endParaRPr lang="en-US" sz="1200" dirty="0"/>
          </a:p>
        </p:txBody>
      </p:sp>
      <p:sp>
        <p:nvSpPr>
          <p:cNvPr id="7" name="Text 5"/>
          <p:cNvSpPr/>
          <p:nvPr/>
        </p:nvSpPr>
        <p:spPr>
          <a:xfrm>
            <a:off x="2819385" y="5410175"/>
            <a:ext cx="2746968"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5309"/>
                </a:solidFill>
                <a:latin typeface="JetBrains Mono" pitchFamily="49" charset="0"/>
                <a:ea typeface="JetBrains Mono" pitchFamily="49" charset="-122"/>
                <a:cs typeface="JetBrains Mono" pitchFamily="49" charset="-120"/>
              </a:rPr>
              <a:t>backend · internal: true</a:t>
            </a:r>
            <a:endParaRPr lang="en-US" sz="1200" dirty="0"/>
          </a:p>
        </p:txBody>
      </p:sp>
      <p:sp>
        <p:nvSpPr>
          <p:cNvPr id="8" name="Text 6"/>
          <p:cNvSpPr/>
          <p:nvPr/>
        </p:nvSpPr>
        <p:spPr>
          <a:xfrm>
            <a:off x="812731" y="2381239"/>
            <a:ext cx="1396954" cy="444493"/>
          </a:xfrm>
          <a:prstGeom prst="roundRect">
            <a:avLst>
              <a:gd name="adj" fmla="val 20000"/>
            </a:avLst>
          </a:prstGeom>
          <a:solidFill>
            <a:srgbClr val="0F1B2D"/>
          </a:solidFill>
          <a:ln/>
        </p:spPr>
        <p:txBody>
          <a:bodyPr wrap="square" lIns="0" tIns="0" rIns="0" bIns="0" rtlCol="0" anchor="ctr">
            <a:normAutofit/>
          </a:bodyPr>
          <a:lstStyle/>
          <a:p>
            <a:pPr algn="ctr" indent="0" marL="0">
              <a:lnSpc>
                <a:spcPts val="2100"/>
              </a:lnSpc>
              <a:buNone/>
            </a:pPr>
            <a:r>
              <a:rPr lang="en-US" sz="1500" b="1" dirty="0">
                <a:solidFill>
                  <a:srgbClr val="F5F7FA"/>
                </a:solidFill>
                <a:latin typeface="IBM Plex Sans" pitchFamily="34" charset="0"/>
                <a:ea typeface="IBM Plex Sans" pitchFamily="34" charset="-122"/>
                <a:cs typeface="IBM Plex Sans" pitchFamily="34" charset="-120"/>
              </a:rPr>
              <a:t>Navigateur</a:t>
            </a:r>
            <a:endParaRPr lang="en-US" sz="1500" dirty="0"/>
          </a:p>
        </p:txBody>
      </p:sp>
      <p:sp>
        <p:nvSpPr>
          <p:cNvPr id="9" name="Text 7"/>
          <p:cNvSpPr/>
          <p:nvPr/>
        </p:nvSpPr>
        <p:spPr>
          <a:xfrm>
            <a:off x="9982143" y="2381239"/>
            <a:ext cx="1396954" cy="444493"/>
          </a:xfrm>
          <a:prstGeom prst="roundRect">
            <a:avLst>
              <a:gd name="adj" fmla="val 20000"/>
            </a:avLst>
          </a:prstGeom>
          <a:solidFill>
            <a:srgbClr val="0F1B2D"/>
          </a:solidFill>
          <a:ln/>
        </p:spPr>
        <p:txBody>
          <a:bodyPr wrap="square" lIns="0" tIns="0" rIns="0" bIns="0" rtlCol="0" anchor="ctr">
            <a:normAutofit/>
          </a:bodyPr>
          <a:lstStyle/>
          <a:p>
            <a:pPr algn="ctr" indent="0" marL="0">
              <a:lnSpc>
                <a:spcPts val="2100"/>
              </a:lnSpc>
              <a:buNone/>
            </a:pPr>
            <a:r>
              <a:rPr lang="en-US" sz="1500" b="1" dirty="0">
                <a:solidFill>
                  <a:srgbClr val="F5F7FA"/>
                </a:solidFill>
                <a:latin typeface="IBM Plex Sans" pitchFamily="34" charset="0"/>
                <a:ea typeface="IBM Plex Sans" pitchFamily="34" charset="-122"/>
                <a:cs typeface="IBM Plex Sans" pitchFamily="34" charset="-120"/>
              </a:rPr>
              <a:t>Discord</a:t>
            </a:r>
            <a:endParaRPr lang="en-US" sz="1500" dirty="0"/>
          </a:p>
        </p:txBody>
      </p:sp>
      <p:sp>
        <p:nvSpPr>
          <p:cNvPr id="10" name="Shape 8"/>
          <p:cNvSpPr/>
          <p:nvPr/>
        </p:nvSpPr>
        <p:spPr>
          <a:xfrm>
            <a:off x="2990768" y="2292291"/>
            <a:ext cx="1447728" cy="622216"/>
          </a:xfrm>
          <a:prstGeom prst="roundRect">
            <a:avLst>
              <a:gd name="adj" fmla="val 13267"/>
            </a:avLst>
          </a:prstGeom>
          <a:solidFill>
            <a:srgbClr val="FDFDFC"/>
          </a:solidFill>
          <a:ln w="12700">
            <a:solidFill>
              <a:srgbClr val="C9D3E0"/>
            </a:solidFill>
            <a:prstDash val="solid"/>
          </a:ln>
        </p:spPr>
      </p:sp>
      <p:sp>
        <p:nvSpPr>
          <p:cNvPr id="11" name="Text 9"/>
          <p:cNvSpPr/>
          <p:nvPr/>
        </p:nvSpPr>
        <p:spPr>
          <a:xfrm>
            <a:off x="3409330" y="2356980"/>
            <a:ext cx="610604" cy="292079"/>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Nginx</a:t>
            </a:r>
            <a:endParaRPr lang="en-US" sz="1500" dirty="0"/>
          </a:p>
        </p:txBody>
      </p:sp>
      <p:sp>
        <p:nvSpPr>
          <p:cNvPr id="12" name="Text 10"/>
          <p:cNvSpPr/>
          <p:nvPr/>
        </p:nvSpPr>
        <p:spPr>
          <a:xfrm>
            <a:off x="3549990" y="2636354"/>
            <a:ext cx="329196" cy="238778"/>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536A"/>
                </a:solidFill>
                <a:latin typeface="JetBrains Mono" pitchFamily="49" charset="0"/>
                <a:ea typeface="JetBrains Mono" pitchFamily="49" charset="-122"/>
                <a:cs typeface="JetBrains Mono" pitchFamily="49" charset="-120"/>
              </a:rPr>
              <a:t>:80</a:t>
            </a:r>
            <a:endParaRPr lang="en-US" sz="1200" dirty="0"/>
          </a:p>
        </p:txBody>
      </p:sp>
      <p:sp>
        <p:nvSpPr>
          <p:cNvPr id="13" name="Shape 11"/>
          <p:cNvSpPr/>
          <p:nvPr/>
        </p:nvSpPr>
        <p:spPr>
          <a:xfrm>
            <a:off x="5372093" y="2292291"/>
            <a:ext cx="1447728" cy="622216"/>
          </a:xfrm>
          <a:prstGeom prst="roundRect">
            <a:avLst>
              <a:gd name="adj" fmla="val 13267"/>
            </a:avLst>
          </a:prstGeom>
          <a:solidFill>
            <a:srgbClr val="FDFDFC"/>
          </a:solidFill>
          <a:ln w="12700">
            <a:solidFill>
              <a:srgbClr val="C9D3E0"/>
            </a:solidFill>
            <a:prstDash val="solid"/>
          </a:ln>
        </p:spPr>
      </p:sp>
      <p:sp>
        <p:nvSpPr>
          <p:cNvPr id="14" name="Text 12"/>
          <p:cNvSpPr/>
          <p:nvPr/>
        </p:nvSpPr>
        <p:spPr>
          <a:xfrm>
            <a:off x="5784186" y="2356980"/>
            <a:ext cx="623543" cy="292079"/>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Gatus</a:t>
            </a:r>
            <a:endParaRPr lang="en-US" sz="1500" dirty="0"/>
          </a:p>
        </p:txBody>
      </p:sp>
      <p:sp>
        <p:nvSpPr>
          <p:cNvPr id="15" name="Text 13"/>
          <p:cNvSpPr/>
          <p:nvPr/>
        </p:nvSpPr>
        <p:spPr>
          <a:xfrm>
            <a:off x="5766770" y="2636354"/>
            <a:ext cx="658288" cy="238778"/>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536A"/>
                </a:solidFill>
                <a:latin typeface="JetBrains Mono" pitchFamily="49" charset="0"/>
                <a:ea typeface="JetBrains Mono" pitchFamily="49" charset="-122"/>
                <a:cs typeface="JetBrains Mono" pitchFamily="49" charset="-120"/>
              </a:rPr>
              <a:t>statut</a:t>
            </a:r>
            <a:endParaRPr lang="en-US" sz="1200" dirty="0"/>
          </a:p>
        </p:txBody>
      </p:sp>
      <p:sp>
        <p:nvSpPr>
          <p:cNvPr id="16" name="Shape 14"/>
          <p:cNvSpPr/>
          <p:nvPr/>
        </p:nvSpPr>
        <p:spPr>
          <a:xfrm>
            <a:off x="7753332" y="2292291"/>
            <a:ext cx="1447728" cy="622216"/>
          </a:xfrm>
          <a:prstGeom prst="roundRect">
            <a:avLst>
              <a:gd name="adj" fmla="val 13267"/>
            </a:avLst>
          </a:prstGeom>
          <a:solidFill>
            <a:srgbClr val="FDFDFC"/>
          </a:solidFill>
          <a:ln w="12700">
            <a:solidFill>
              <a:srgbClr val="C9D3E0"/>
            </a:solidFill>
            <a:prstDash val="solid"/>
          </a:ln>
        </p:spPr>
      </p:sp>
      <p:sp>
        <p:nvSpPr>
          <p:cNvPr id="17" name="Text 15"/>
          <p:cNvSpPr/>
          <p:nvPr/>
        </p:nvSpPr>
        <p:spPr>
          <a:xfrm>
            <a:off x="8131097" y="2356980"/>
            <a:ext cx="692199" cy="292079"/>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Bridge</a:t>
            </a:r>
            <a:endParaRPr lang="en-US" sz="1500" dirty="0"/>
          </a:p>
        </p:txBody>
      </p:sp>
      <p:sp>
        <p:nvSpPr>
          <p:cNvPr id="18" name="Text 16"/>
          <p:cNvSpPr/>
          <p:nvPr/>
        </p:nvSpPr>
        <p:spPr>
          <a:xfrm>
            <a:off x="8202892" y="2636354"/>
            <a:ext cx="548521" cy="238778"/>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536A"/>
                </a:solidFill>
                <a:latin typeface="JetBrains Mono" pitchFamily="49" charset="0"/>
                <a:ea typeface="JetBrains Mono" pitchFamily="49" charset="-122"/>
                <a:cs typeface="JetBrains Mono" pitchFamily="49" charset="-120"/>
              </a:rPr>
              <a:t>:8080</a:t>
            </a:r>
            <a:endParaRPr lang="en-US" sz="1200" dirty="0"/>
          </a:p>
        </p:txBody>
      </p:sp>
      <p:sp>
        <p:nvSpPr>
          <p:cNvPr id="19" name="Shape 17"/>
          <p:cNvSpPr/>
          <p:nvPr/>
        </p:nvSpPr>
        <p:spPr>
          <a:xfrm>
            <a:off x="5333919" y="3460736"/>
            <a:ext cx="1523989" cy="698477"/>
          </a:xfrm>
          <a:prstGeom prst="roundRect">
            <a:avLst>
              <a:gd name="adj" fmla="val 12728"/>
            </a:avLst>
          </a:prstGeom>
          <a:solidFill>
            <a:srgbClr val="2F6FED"/>
          </a:solidFill>
          <a:ln/>
        </p:spPr>
      </p:sp>
      <p:sp>
        <p:nvSpPr>
          <p:cNvPr id="20" name="Text 18"/>
          <p:cNvSpPr/>
          <p:nvPr/>
        </p:nvSpPr>
        <p:spPr>
          <a:xfrm>
            <a:off x="5481301" y="3563598"/>
            <a:ext cx="1229139" cy="292079"/>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7F9FC"/>
                </a:solidFill>
                <a:latin typeface="IBM Plex Sans" pitchFamily="34" charset="0"/>
                <a:ea typeface="IBM Plex Sans" pitchFamily="34" charset="-122"/>
                <a:cs typeface="IBM Plex Sans" pitchFamily="34" charset="-120"/>
              </a:rPr>
              <a:t>Mattermost</a:t>
            </a:r>
            <a:endParaRPr lang="en-US" sz="1500" dirty="0"/>
          </a:p>
        </p:txBody>
      </p:sp>
      <p:sp>
        <p:nvSpPr>
          <p:cNvPr id="21" name="Text 19"/>
          <p:cNvSpPr/>
          <p:nvPr/>
        </p:nvSpPr>
        <p:spPr>
          <a:xfrm>
            <a:off x="5821653" y="3842972"/>
            <a:ext cx="548521" cy="238778"/>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7F9FC"/>
                </a:solidFill>
                <a:latin typeface="JetBrains Mono" pitchFamily="49" charset="0"/>
                <a:ea typeface="JetBrains Mono" pitchFamily="49" charset="-122"/>
                <a:cs typeface="JetBrains Mono" pitchFamily="49" charset="-120"/>
              </a:rPr>
              <a:t>:8065</a:t>
            </a:r>
            <a:endParaRPr lang="en-US" sz="1200" dirty="0"/>
          </a:p>
        </p:txBody>
      </p:sp>
      <p:sp>
        <p:nvSpPr>
          <p:cNvPr id="22" name="Shape 20"/>
          <p:cNvSpPr/>
          <p:nvPr/>
        </p:nvSpPr>
        <p:spPr>
          <a:xfrm>
            <a:off x="5340269" y="4832302"/>
            <a:ext cx="1511289" cy="622216"/>
          </a:xfrm>
          <a:prstGeom prst="roundRect">
            <a:avLst>
              <a:gd name="adj" fmla="val 13267"/>
            </a:avLst>
          </a:prstGeom>
          <a:solidFill>
            <a:srgbClr val="FCE3CC"/>
          </a:solidFill>
          <a:ln w="12700">
            <a:solidFill>
              <a:srgbClr val="E8833A"/>
            </a:solidFill>
            <a:prstDash val="solid"/>
          </a:ln>
        </p:spPr>
      </p:sp>
      <p:sp>
        <p:nvSpPr>
          <p:cNvPr id="23" name="Text 21"/>
          <p:cNvSpPr/>
          <p:nvPr/>
        </p:nvSpPr>
        <p:spPr>
          <a:xfrm>
            <a:off x="5481927" y="4896991"/>
            <a:ext cx="1227887" cy="292079"/>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PostgreSQL</a:t>
            </a:r>
            <a:endParaRPr lang="en-US" sz="1500" dirty="0"/>
          </a:p>
        </p:txBody>
      </p:sp>
      <p:sp>
        <p:nvSpPr>
          <p:cNvPr id="24" name="Text 22"/>
          <p:cNvSpPr/>
          <p:nvPr/>
        </p:nvSpPr>
        <p:spPr>
          <a:xfrm>
            <a:off x="5821653" y="5176365"/>
            <a:ext cx="548521" cy="238778"/>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536A"/>
                </a:solidFill>
                <a:latin typeface="JetBrains Mono" pitchFamily="49" charset="0"/>
                <a:ea typeface="JetBrains Mono" pitchFamily="49" charset="-122"/>
                <a:cs typeface="JetBrains Mono" pitchFamily="49" charset="-120"/>
              </a:rPr>
              <a:t>:5432</a:t>
            </a:r>
            <a:endParaRPr lang="en-US" sz="1200" dirty="0"/>
          </a:p>
        </p:txBody>
      </p:sp>
      <p:pic>
        <p:nvPicPr>
          <p:cNvPr id="25" name="Image 0" descr="connector">    </p:cNvPr>
          <p:cNvPicPr>
            <a:picLocks noChangeAspect="1"/>
          </p:cNvPicPr>
          <p:nvPr/>
        </p:nvPicPr>
        <p:blipFill>
          <a:blip r:embed="rId1"/>
          <a:srcRect l="-20" r="-20" t="0" b="0"/>
          <a:stretch/>
        </p:blipFill>
        <p:spPr>
          <a:xfrm>
            <a:off x="2158992" y="2552619"/>
            <a:ext cx="876292" cy="101559"/>
          </a:xfrm>
          <a:prstGeom prst="rect">
            <a:avLst/>
          </a:prstGeom>
        </p:spPr>
      </p:pic>
      <p:sp>
        <p:nvSpPr>
          <p:cNvPr id="26" name="Text 23"/>
          <p:cNvSpPr/>
          <p:nvPr/>
        </p:nvSpPr>
        <p:spPr>
          <a:xfrm>
            <a:off x="2133592" y="2095432"/>
            <a:ext cx="939787" cy="238778"/>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536A"/>
                </a:solidFill>
                <a:latin typeface="JetBrains Mono" pitchFamily="49" charset="0"/>
                <a:ea typeface="JetBrains Mono" pitchFamily="49" charset="-122"/>
                <a:cs typeface="JetBrains Mono" pitchFamily="49" charset="-120"/>
              </a:rPr>
              <a:t>port 80</a:t>
            </a:r>
            <a:endParaRPr lang="en-US" sz="1200" dirty="0"/>
          </a:p>
        </p:txBody>
      </p:sp>
      <p:pic>
        <p:nvPicPr>
          <p:cNvPr id="27" name="Image 1" descr="connector">    </p:cNvPr>
          <p:cNvPicPr>
            <a:picLocks noChangeAspect="1"/>
          </p:cNvPicPr>
          <p:nvPr/>
        </p:nvPicPr>
        <p:blipFill>
          <a:blip r:embed="rId2"/>
          <a:srcRect l="-20" r="-20" t="0" b="0"/>
          <a:stretch/>
        </p:blipFill>
        <p:spPr>
          <a:xfrm>
            <a:off x="9156631" y="2552619"/>
            <a:ext cx="876292" cy="101559"/>
          </a:xfrm>
          <a:prstGeom prst="rect">
            <a:avLst/>
          </a:prstGeom>
        </p:spPr>
      </p:pic>
      <p:pic>
        <p:nvPicPr>
          <p:cNvPr id="28" name="Image 2" descr="connector">    </p:cNvPr>
          <p:cNvPicPr>
            <a:picLocks noChangeAspect="1"/>
          </p:cNvPicPr>
          <p:nvPr/>
        </p:nvPicPr>
        <p:blipFill>
          <a:blip r:embed="rId3"/>
          <a:srcRect l="-3" r="-3" t="0" b="0"/>
          <a:stretch/>
        </p:blipFill>
        <p:spPr>
          <a:xfrm>
            <a:off x="3663939" y="2870164"/>
            <a:ext cx="1720846" cy="990545"/>
          </a:xfrm>
          <a:prstGeom prst="rect">
            <a:avLst/>
          </a:prstGeom>
        </p:spPr>
      </p:pic>
      <p:pic>
        <p:nvPicPr>
          <p:cNvPr id="29" name="Image 3" descr="connector">    </p:cNvPr>
          <p:cNvPicPr>
            <a:picLocks noChangeAspect="1"/>
          </p:cNvPicPr>
          <p:nvPr/>
        </p:nvPicPr>
        <p:blipFill>
          <a:blip r:embed="rId4"/>
          <a:srcRect l="-3" r="-3" t="0" b="0"/>
          <a:stretch/>
        </p:blipFill>
        <p:spPr>
          <a:xfrm>
            <a:off x="6807129" y="2870164"/>
            <a:ext cx="1720846" cy="990545"/>
          </a:xfrm>
          <a:prstGeom prst="rect">
            <a:avLst/>
          </a:prstGeom>
        </p:spPr>
      </p:pic>
      <p:pic>
        <p:nvPicPr>
          <p:cNvPr id="30" name="Image 4" descr="connector">    </p:cNvPr>
          <p:cNvPicPr>
            <a:picLocks noChangeAspect="1"/>
          </p:cNvPicPr>
          <p:nvPr/>
        </p:nvPicPr>
        <p:blipFill>
          <a:blip r:embed="rId5"/>
          <a:srcRect l="0" r="0" t="-14" b="-14"/>
          <a:stretch/>
        </p:blipFill>
        <p:spPr>
          <a:xfrm>
            <a:off x="6045178" y="2870164"/>
            <a:ext cx="101559" cy="641263"/>
          </a:xfrm>
          <a:prstGeom prst="rect">
            <a:avLst/>
          </a:prstGeom>
        </p:spPr>
      </p:pic>
      <p:pic>
        <p:nvPicPr>
          <p:cNvPr id="31" name="Image 5" descr="connector">    </p:cNvPr>
          <p:cNvPicPr>
            <a:picLocks noChangeAspect="1"/>
          </p:cNvPicPr>
          <p:nvPr/>
        </p:nvPicPr>
        <p:blipFill>
          <a:blip r:embed="rId6"/>
          <a:srcRect l="0" r="0" t="-17" b="-17"/>
          <a:stretch/>
        </p:blipFill>
        <p:spPr>
          <a:xfrm>
            <a:off x="6045178" y="4108433"/>
            <a:ext cx="101559" cy="768299"/>
          </a:xfrm>
          <a:prstGeom prst="rect">
            <a:avLst/>
          </a:prstGeom>
        </p:spPr>
      </p:pic>
      <p:sp>
        <p:nvSpPr>
          <p:cNvPr id="32" name="Text 24"/>
          <p:cNvSpPr/>
          <p:nvPr/>
        </p:nvSpPr>
        <p:spPr>
          <a:xfrm>
            <a:off x="812731" y="4063915"/>
            <a:ext cx="1765934" cy="23877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ED"/>
                </a:solidFill>
                <a:latin typeface="IBM Plex Sans" pitchFamily="34" charset="0"/>
                <a:ea typeface="IBM Plex Sans" pitchFamily="34" charset="-122"/>
                <a:cs typeface="IBM Plex Sans" pitchFamily="34" charset="-120"/>
              </a:rPr>
              <a:t>Mattermost</a:t>
            </a:r>
            <a:endParaRPr lang="en-US" sz="1200" dirty="0"/>
          </a:p>
        </p:txBody>
      </p:sp>
      <p:sp>
        <p:nvSpPr>
          <p:cNvPr id="33" name="Text 25"/>
          <p:cNvSpPr/>
          <p:nvPr/>
        </p:nvSpPr>
        <p:spPr>
          <a:xfrm>
            <a:off x="812731" y="4328071"/>
            <a:ext cx="1765934" cy="4521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IBM Plex Sans" pitchFamily="34" charset="0"/>
                <a:ea typeface="IBM Plex Sans" pitchFamily="34" charset="-122"/>
                <a:cs typeface="IBM Plex Sans" pitchFamily="34" charset="-120"/>
              </a:rPr>
              <a:t>seul service sur les deux réseaux</a:t>
            </a:r>
            <a:endParaRPr lang="en-US" sz="1200" dirty="0"/>
          </a:p>
        </p:txBody>
      </p:sp>
      <p:sp>
        <p:nvSpPr>
          <p:cNvPr id="34" name="Text 26"/>
          <p:cNvSpPr/>
          <p:nvPr/>
        </p:nvSpPr>
        <p:spPr>
          <a:xfrm>
            <a:off x="9588429" y="4063915"/>
            <a:ext cx="1844388" cy="45215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6536A"/>
                </a:solidFill>
                <a:latin typeface="IBM Plex Sans" pitchFamily="34" charset="0"/>
                <a:ea typeface="IBM Plex Sans" pitchFamily="34" charset="-122"/>
                <a:cs typeface="IBM Plex Sans" pitchFamily="34" charset="-120"/>
              </a:rPr>
              <a:t>Un seul port</a:t>
            </a:r>
            <a:r>
              <a:rPr lang="en-US" sz="1200" dirty="0">
                <a:solidFill>
                  <a:srgbClr val="46536A"/>
                </a:solidFill>
                <a:latin typeface="IBM Plex Sans" pitchFamily="34" charset="0"/>
                <a:ea typeface="IBM Plex Sans" pitchFamily="34" charset="-122"/>
                <a:cs typeface="IBM Plex Sans" pitchFamily="34" charset="-120"/>
              </a:rPr>
              <a:t> publié sur l’hôte</a:t>
            </a:r>
            <a:endParaRPr lang="en-US" sz="1200" dirty="0"/>
          </a:p>
        </p:txBody>
      </p:sp>
      <p:sp>
        <p:nvSpPr>
          <p:cNvPr id="35" name="Text 27"/>
          <p:cNvSpPr/>
          <p:nvPr/>
        </p:nvSpPr>
        <p:spPr>
          <a:xfrm>
            <a:off x="9588429" y="4592228"/>
            <a:ext cx="1844388" cy="45215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6536A"/>
                </a:solidFill>
                <a:latin typeface="IBM Plex Sans" pitchFamily="34" charset="0"/>
                <a:ea typeface="IBM Plex Sans" pitchFamily="34" charset="-122"/>
                <a:cs typeface="IBM Plex Sans" pitchFamily="34" charset="-120"/>
              </a:rPr>
              <a:t>La base</a:t>
            </a:r>
            <a:r>
              <a:rPr lang="en-US" sz="1200" dirty="0">
                <a:solidFill>
                  <a:srgbClr val="46536A"/>
                </a:solidFill>
                <a:latin typeface="IBM Plex Sans" pitchFamily="34" charset="0"/>
                <a:ea typeface="IBM Plex Sans" pitchFamily="34" charset="-122"/>
                <a:cs typeface="IBM Plex Sans" pitchFamily="34" charset="-120"/>
              </a:rPr>
              <a:t> n’a aucun accès à Internet</a:t>
            </a:r>
            <a:endParaRPr lang="en-US" sz="1200" dirty="0"/>
          </a:p>
        </p:txBody>
      </p:sp>
      <p:sp>
        <p:nvSpPr>
          <p:cNvPr id="36" name="Text 28"/>
          <p:cNvSpPr/>
          <p:nvPr/>
        </p:nvSpPr>
        <p:spPr>
          <a:xfrm>
            <a:off x="812731" y="6235688"/>
            <a:ext cx="2760554" cy="24129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9"/>
                </a:solidFill>
                <a:latin typeface="IBM Plex Sans" pitchFamily="34" charset="0"/>
                <a:ea typeface="IBM Plex Sans" pitchFamily="34" charset="-122"/>
                <a:cs typeface="IBM Plex Sans" pitchFamily="34" charset="-120"/>
              </a:rPr>
              <a:t>IM Bridge · Mattermost ⇄ Discord</a:t>
            </a:r>
            <a:endParaRPr lang="en-US" sz="1200" dirty="0"/>
          </a:p>
        </p:txBody>
      </p:sp>
      <p:sp>
        <p:nvSpPr>
          <p:cNvPr id="37" name="Text 29"/>
          <p:cNvSpPr/>
          <p:nvPr/>
        </p:nvSpPr>
        <p:spPr>
          <a:xfrm>
            <a:off x="10893598" y="6235688"/>
            <a:ext cx="485499" cy="24129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9"/>
                </a:solidFill>
                <a:latin typeface="IBM Plex Sans" pitchFamily="34" charset="0"/>
                <a:ea typeface="IBM Plex Sans" pitchFamily="34" charset="-122"/>
                <a:cs typeface="IBM Plex Sans" pitchFamily="34" charset="-120"/>
              </a:rPr>
              <a:t>3 / 14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731" y="812732"/>
            <a:ext cx="10883447" cy="238778"/>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F6FED"/>
                </a:solidFill>
                <a:latin typeface="JetBrains Mono" pitchFamily="49" charset="0"/>
                <a:ea typeface="JetBrains Mono" pitchFamily="49" charset="-122"/>
                <a:cs typeface="JetBrains Mono" pitchFamily="49" charset="-120"/>
              </a:rPr>
              <a:t>NETWORKING</a:t>
            </a:r>
            <a:endParaRPr lang="en-US" sz="1200" dirty="0"/>
          </a:p>
        </p:txBody>
      </p:sp>
      <p:sp>
        <p:nvSpPr>
          <p:cNvPr id="3" name="Text 1"/>
          <p:cNvSpPr/>
          <p:nvPr>
            <p:ph type="title"/>
          </p:nvPr>
        </p:nvSpPr>
        <p:spPr>
          <a:xfrm>
            <a:off x="812731" y="1102278"/>
            <a:ext cx="10883447" cy="472415"/>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Qui peut parler à qui ?</a:t>
            </a:r>
            <a:endParaRPr lang="en-US" sz="3200" dirty="0"/>
          </a:p>
        </p:txBody>
      </p:sp>
      <p:sp>
        <p:nvSpPr>
          <p:cNvPr id="4" name="Shape 2"/>
          <p:cNvSpPr/>
          <p:nvPr/>
        </p:nvSpPr>
        <p:spPr>
          <a:xfrm>
            <a:off x="819081" y="1860406"/>
            <a:ext cx="3374040" cy="2498444"/>
          </a:xfrm>
          <a:prstGeom prst="roundRect">
            <a:avLst>
              <a:gd name="adj" fmla="val 4321"/>
            </a:avLst>
          </a:prstGeom>
          <a:solidFill>
            <a:srgbClr val="FDFDFC"/>
          </a:solidFill>
          <a:ln w="12700">
            <a:solidFill>
              <a:srgbClr val="DCE2EA"/>
            </a:solidFill>
            <a:prstDash val="solid"/>
          </a:ln>
        </p:spPr>
      </p:sp>
      <p:pic>
        <p:nvPicPr>
          <p:cNvPr id="5" name="Image 0" descr="Lock">    </p:cNvPr>
          <p:cNvPicPr>
            <a:picLocks noChangeAspect="1"/>
          </p:cNvPicPr>
          <p:nvPr/>
        </p:nvPicPr>
        <p:blipFill>
          <a:blip r:embed="rId1"/>
          <a:srcRect l="0" r="0" t="0" b="0"/>
          <a:stretch/>
        </p:blipFill>
        <p:spPr>
          <a:xfrm>
            <a:off x="1077844" y="2119170"/>
            <a:ext cx="355542" cy="355542"/>
          </a:xfrm>
          <a:prstGeom prst="rect">
            <a:avLst/>
          </a:prstGeom>
        </p:spPr>
      </p:pic>
      <p:sp>
        <p:nvSpPr>
          <p:cNvPr id="6" name="Text 3"/>
          <p:cNvSpPr/>
          <p:nvPr/>
        </p:nvSpPr>
        <p:spPr>
          <a:xfrm>
            <a:off x="1077844" y="2601660"/>
            <a:ext cx="2942208" cy="330163"/>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Un seul port publié</a:t>
            </a:r>
            <a:endParaRPr lang="en-US" sz="2000" dirty="0"/>
          </a:p>
        </p:txBody>
      </p:sp>
      <p:sp>
        <p:nvSpPr>
          <p:cNvPr id="7" name="Text 4"/>
          <p:cNvSpPr/>
          <p:nvPr/>
        </p:nvSpPr>
        <p:spPr>
          <a:xfrm>
            <a:off x="1077844" y="3033371"/>
            <a:ext cx="2942208" cy="825436"/>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36A"/>
                </a:solidFill>
                <a:latin typeface="IBM Plex Sans" pitchFamily="34" charset="0"/>
                <a:ea typeface="IBM Plex Sans" pitchFamily="34" charset="-122"/>
                <a:cs typeface="IBM Plex Sans" pitchFamily="34" charset="-120"/>
              </a:rPr>
              <a:t>Nginx sur le port 80. Mattermost, le bridge, Gatus et PostgreSQL restent sur les réseaux Docker.</a:t>
            </a:r>
            <a:endParaRPr lang="en-US" sz="1500" dirty="0"/>
          </a:p>
        </p:txBody>
      </p:sp>
      <p:sp>
        <p:nvSpPr>
          <p:cNvPr id="8" name="Shape 5"/>
          <p:cNvSpPr/>
          <p:nvPr/>
        </p:nvSpPr>
        <p:spPr>
          <a:xfrm>
            <a:off x="4408937" y="1860406"/>
            <a:ext cx="3374040" cy="2498444"/>
          </a:xfrm>
          <a:prstGeom prst="roundRect">
            <a:avLst>
              <a:gd name="adj" fmla="val 4321"/>
            </a:avLst>
          </a:prstGeom>
          <a:solidFill>
            <a:srgbClr val="FDFDFC"/>
          </a:solidFill>
          <a:ln w="12700">
            <a:solidFill>
              <a:srgbClr val="DCE2EA"/>
            </a:solidFill>
            <a:prstDash val="solid"/>
          </a:ln>
        </p:spPr>
      </p:sp>
      <p:pic>
        <p:nvPicPr>
          <p:cNvPr id="9" name="Image 1" descr="Database">    </p:cNvPr>
          <p:cNvPicPr>
            <a:picLocks noChangeAspect="1"/>
          </p:cNvPicPr>
          <p:nvPr/>
        </p:nvPicPr>
        <p:blipFill>
          <a:blip r:embed="rId2"/>
          <a:srcRect l="0" r="0" t="0" b="0"/>
          <a:stretch/>
        </p:blipFill>
        <p:spPr>
          <a:xfrm>
            <a:off x="4667701" y="2119170"/>
            <a:ext cx="355542" cy="355542"/>
          </a:xfrm>
          <a:prstGeom prst="rect">
            <a:avLst/>
          </a:prstGeom>
        </p:spPr>
      </p:pic>
      <p:sp>
        <p:nvSpPr>
          <p:cNvPr id="10" name="Text 6"/>
          <p:cNvSpPr/>
          <p:nvPr/>
        </p:nvSpPr>
        <p:spPr>
          <a:xfrm>
            <a:off x="4667701" y="2601660"/>
            <a:ext cx="2942208" cy="330163"/>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Base enfermée</a:t>
            </a:r>
            <a:endParaRPr lang="en-US" sz="2000" dirty="0"/>
          </a:p>
        </p:txBody>
      </p:sp>
      <p:sp>
        <p:nvSpPr>
          <p:cNvPr id="11" name="Text 7"/>
          <p:cNvSpPr/>
          <p:nvPr/>
        </p:nvSpPr>
        <p:spPr>
          <a:xfrm>
            <a:off x="4667701" y="3033371"/>
            <a:ext cx="2942208" cy="825436"/>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36A"/>
                </a:solidFill>
                <a:latin typeface="IBM Plex Sans" pitchFamily="34" charset="0"/>
                <a:ea typeface="IBM Plex Sans" pitchFamily="34" charset="-122"/>
                <a:cs typeface="IBM Plex Sans" pitchFamily="34" charset="-120"/>
              </a:rPr>
              <a:t>Réseau backend en internal: true : seul Mattermost la joint, aucune route vers Internet.</a:t>
            </a:r>
            <a:endParaRPr lang="en-US" sz="1500" dirty="0"/>
          </a:p>
        </p:txBody>
      </p:sp>
      <p:sp>
        <p:nvSpPr>
          <p:cNvPr id="12" name="Shape 8"/>
          <p:cNvSpPr/>
          <p:nvPr/>
        </p:nvSpPr>
        <p:spPr>
          <a:xfrm>
            <a:off x="7998795" y="1860406"/>
            <a:ext cx="3374040" cy="2498444"/>
          </a:xfrm>
          <a:prstGeom prst="roundRect">
            <a:avLst>
              <a:gd name="adj" fmla="val 4321"/>
            </a:avLst>
          </a:prstGeom>
          <a:solidFill>
            <a:srgbClr val="FDFDFC"/>
          </a:solidFill>
          <a:ln w="12700">
            <a:solidFill>
              <a:srgbClr val="DCE2EA"/>
            </a:solidFill>
            <a:prstDash val="solid"/>
          </a:ln>
        </p:spPr>
      </p:sp>
      <p:pic>
        <p:nvPicPr>
          <p:cNvPr id="13" name="Image 2" descr="Globe">    </p:cNvPr>
          <p:cNvPicPr>
            <a:picLocks noChangeAspect="1"/>
          </p:cNvPicPr>
          <p:nvPr/>
        </p:nvPicPr>
        <p:blipFill>
          <a:blip r:embed="rId3"/>
          <a:srcRect l="0" r="0" t="0" b="0"/>
          <a:stretch/>
        </p:blipFill>
        <p:spPr>
          <a:xfrm>
            <a:off x="8257558" y="2119170"/>
            <a:ext cx="355542" cy="355542"/>
          </a:xfrm>
          <a:prstGeom prst="rect">
            <a:avLst/>
          </a:prstGeom>
        </p:spPr>
      </p:pic>
      <p:sp>
        <p:nvSpPr>
          <p:cNvPr id="14" name="Text 9"/>
          <p:cNvSpPr/>
          <p:nvPr/>
        </p:nvSpPr>
        <p:spPr>
          <a:xfrm>
            <a:off x="8257558" y="2601660"/>
            <a:ext cx="2942208" cy="330163"/>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DNS interne</a:t>
            </a:r>
            <a:endParaRPr lang="en-US" sz="2000" dirty="0"/>
          </a:p>
        </p:txBody>
      </p:sp>
      <p:sp>
        <p:nvSpPr>
          <p:cNvPr id="15" name="Text 10"/>
          <p:cNvSpPr/>
          <p:nvPr/>
        </p:nvSpPr>
        <p:spPr>
          <a:xfrm>
            <a:off x="8257558" y="3033371"/>
            <a:ext cx="2942208" cy="1092114"/>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36A"/>
                </a:solidFill>
                <a:latin typeface="IBM Plex Sans" pitchFamily="34" charset="0"/>
                <a:ea typeface="IBM Plex Sans" pitchFamily="34" charset="-122"/>
                <a:cs typeface="IBM Plex Sans" pitchFamily="34" charset="-120"/>
              </a:rPr>
              <a:t>Les services s’appellent par leur nom. Nginx re-résout à chaque requête et route status.localhost vers Gatus.</a:t>
            </a:r>
            <a:endParaRPr lang="en-US" sz="1500" dirty="0"/>
          </a:p>
        </p:txBody>
      </p:sp>
      <p:sp>
        <p:nvSpPr>
          <p:cNvPr id="16" name="Shape 11"/>
          <p:cNvSpPr/>
          <p:nvPr/>
        </p:nvSpPr>
        <p:spPr>
          <a:xfrm>
            <a:off x="812731" y="4669963"/>
            <a:ext cx="10566453" cy="832990"/>
          </a:xfrm>
          <a:prstGeom prst="roundRect">
            <a:avLst>
              <a:gd name="adj" fmla="val 12197"/>
            </a:avLst>
          </a:prstGeom>
          <a:solidFill>
            <a:srgbClr val="0F1B2D"/>
          </a:solidFill>
          <a:ln/>
        </p:spPr>
      </p:sp>
      <p:sp>
        <p:nvSpPr>
          <p:cNvPr id="17" name="Text 12"/>
          <p:cNvSpPr/>
          <p:nvPr/>
        </p:nvSpPr>
        <p:spPr>
          <a:xfrm>
            <a:off x="1066714" y="4847690"/>
            <a:ext cx="10360241"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A8FF"/>
                </a:solidFill>
                <a:latin typeface="JetBrains Mono" pitchFamily="49" charset="0"/>
                <a:ea typeface="JetBrains Mono" pitchFamily="49" charset="-122"/>
                <a:cs typeface="JetBrains Mono" pitchFamily="49" charset="-120"/>
              </a:rPr>
              <a:t>$ docker compose exec db wget -T 3 http://example.com</a:t>
            </a:r>
            <a:endParaRPr lang="en-US" sz="1200" dirty="0"/>
          </a:p>
        </p:txBody>
      </p:sp>
      <p:sp>
        <p:nvSpPr>
          <p:cNvPr id="18" name="Text 13"/>
          <p:cNvSpPr/>
          <p:nvPr/>
        </p:nvSpPr>
        <p:spPr>
          <a:xfrm>
            <a:off x="1066714" y="5111848"/>
            <a:ext cx="10360241"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wget: bad address 'example.com' → la base ne sort pas</a:t>
            </a:r>
            <a:endParaRPr lang="en-US" sz="1200" dirty="0"/>
          </a:p>
        </p:txBody>
      </p:sp>
      <p:sp>
        <p:nvSpPr>
          <p:cNvPr id="19" name="Text 14"/>
          <p:cNvSpPr/>
          <p:nvPr/>
        </p:nvSpPr>
        <p:spPr>
          <a:xfrm>
            <a:off x="812731" y="6235689"/>
            <a:ext cx="2760554" cy="24129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9"/>
                </a:solidFill>
                <a:latin typeface="IBM Plex Sans" pitchFamily="34" charset="0"/>
                <a:ea typeface="IBM Plex Sans" pitchFamily="34" charset="-122"/>
                <a:cs typeface="IBM Plex Sans" pitchFamily="34" charset="-120"/>
              </a:rPr>
              <a:t>IM Bridge · Mattermost ⇄ Discord</a:t>
            </a:r>
            <a:endParaRPr lang="en-US" sz="1200" dirty="0"/>
          </a:p>
        </p:txBody>
      </p:sp>
      <p:sp>
        <p:nvSpPr>
          <p:cNvPr id="20" name="Text 15"/>
          <p:cNvSpPr/>
          <p:nvPr/>
        </p:nvSpPr>
        <p:spPr>
          <a:xfrm>
            <a:off x="10893598" y="6235689"/>
            <a:ext cx="485499" cy="24129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9"/>
                </a:solidFill>
                <a:latin typeface="IBM Plex Sans" pitchFamily="34" charset="0"/>
                <a:ea typeface="IBM Plex Sans" pitchFamily="34" charset="-122"/>
                <a:cs typeface="IBM Plex Sans" pitchFamily="34" charset="-120"/>
              </a:rPr>
              <a:t>4 / 14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731" y="812732"/>
            <a:ext cx="10883447" cy="238778"/>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FA8FF"/>
                </a:solidFill>
                <a:latin typeface="JetBrains Mono" pitchFamily="49" charset="0"/>
                <a:ea typeface="JetBrains Mono" pitchFamily="49" charset="-122"/>
                <a:cs typeface="JetBrains Mono" pitchFamily="49" charset="-120"/>
              </a:rPr>
              <a:t>LE BRIDGE</a:t>
            </a:r>
            <a:endParaRPr lang="en-US" sz="1200" dirty="0"/>
          </a:p>
        </p:txBody>
      </p:sp>
      <p:sp>
        <p:nvSpPr>
          <p:cNvPr id="3" name="Text 1"/>
          <p:cNvSpPr/>
          <p:nvPr>
            <p:ph type="title"/>
          </p:nvPr>
        </p:nvSpPr>
        <p:spPr>
          <a:xfrm>
            <a:off x="812731" y="1102277"/>
            <a:ext cx="10883447" cy="472415"/>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7FA"/>
                </a:solidFill>
                <a:latin typeface="IBM Plex Sans" pitchFamily="34" charset="0"/>
                <a:ea typeface="IBM Plex Sans" pitchFamily="34" charset="-122"/>
                <a:cs typeface="IBM Plex Sans" pitchFamily="34" charset="-120"/>
              </a:rPr>
              <a:t>Un bridge écrit pour le projet</a:t>
            </a:r>
            <a:endParaRPr lang="en-US" sz="3200" dirty="0"/>
          </a:p>
        </p:txBody>
      </p:sp>
      <p:sp>
        <p:nvSpPr>
          <p:cNvPr id="4" name="Text 2"/>
          <p:cNvSpPr/>
          <p:nvPr/>
        </p:nvSpPr>
        <p:spPr>
          <a:xfrm>
            <a:off x="812731" y="1854057"/>
            <a:ext cx="3401021" cy="736572"/>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7FA8FF"/>
                </a:solidFill>
                <a:latin typeface="IBM Plex Sans" pitchFamily="34" charset="0"/>
                <a:ea typeface="IBM Plex Sans" pitchFamily="34" charset="-122"/>
                <a:cs typeface="IBM Plex Sans" pitchFamily="34" charset="-120"/>
              </a:rPr>
              <a:t>1 360</a:t>
            </a:r>
            <a:endParaRPr lang="en-US" sz="5600" dirty="0"/>
          </a:p>
        </p:txBody>
      </p:sp>
      <p:sp>
        <p:nvSpPr>
          <p:cNvPr id="5" name="Text 3"/>
          <p:cNvSpPr/>
          <p:nvPr/>
        </p:nvSpPr>
        <p:spPr>
          <a:xfrm>
            <a:off x="812731" y="2717567"/>
            <a:ext cx="3401021" cy="825436"/>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4C0D3"/>
                </a:solidFill>
                <a:latin typeface="IBM Plex Sans" pitchFamily="34" charset="0"/>
                <a:ea typeface="IBM Plex Sans" pitchFamily="34" charset="-122"/>
                <a:cs typeface="IBM Plex Sans" pitchFamily="34" charset="-120"/>
              </a:rPr>
              <a:t>lignes de TypeScript : discord.js d’un côté, API REST et WebSocket de Mattermost de l’autre.</a:t>
            </a:r>
            <a:endParaRPr lang="en-US" sz="1500" dirty="0"/>
          </a:p>
        </p:txBody>
      </p:sp>
      <p:sp>
        <p:nvSpPr>
          <p:cNvPr id="6" name="Text 4"/>
          <p:cNvSpPr/>
          <p:nvPr/>
        </p:nvSpPr>
        <p:spPr>
          <a:xfrm>
            <a:off x="812731" y="3669940"/>
            <a:ext cx="3401021" cy="825436"/>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7FA"/>
                </a:solidFill>
                <a:latin typeface="IBM Plex Sans" pitchFamily="34" charset="0"/>
                <a:ea typeface="IBM Plex Sans" pitchFamily="34" charset="-122"/>
                <a:cs typeface="IBM Plex Sans" pitchFamily="34" charset="-120"/>
              </a:rPr>
              <a:t>Matterbridge n’est plus maintenu et ne relaie ni réactions, ni stickers, ni sondages.</a:t>
            </a:r>
            <a:endParaRPr lang="en-US" sz="1500" dirty="0"/>
          </a:p>
        </p:txBody>
      </p:sp>
      <p:sp>
        <p:nvSpPr>
          <p:cNvPr id="7" name="Shape 5"/>
          <p:cNvSpPr/>
          <p:nvPr/>
        </p:nvSpPr>
        <p:spPr>
          <a:xfrm>
            <a:off x="4521015" y="1854057"/>
            <a:ext cx="2184469" cy="797427"/>
          </a:xfrm>
          <a:prstGeom prst="roundRect">
            <a:avLst>
              <a:gd name="adj" fmla="val 11148"/>
            </a:avLst>
          </a:prstGeom>
          <a:solidFill>
            <a:srgbClr val="1B2B44"/>
          </a:solidFill>
          <a:ln/>
        </p:spPr>
      </p:sp>
      <p:sp>
        <p:nvSpPr>
          <p:cNvPr id="8" name="Text 6"/>
          <p:cNvSpPr/>
          <p:nvPr/>
        </p:nvSpPr>
        <p:spPr>
          <a:xfrm>
            <a:off x="4698743" y="2006395"/>
            <a:ext cx="1883884" cy="25399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7FA"/>
                </a:solidFill>
                <a:latin typeface="IBM Plex Sans" pitchFamily="34" charset="0"/>
                <a:ea typeface="IBM Plex Sans" pitchFamily="34" charset="-122"/>
                <a:cs typeface="IBM Plex Sans" pitchFamily="34" charset="-120"/>
              </a:rPr>
              <a:t>Messages</a:t>
            </a:r>
            <a:endParaRPr lang="en-US" sz="1500" dirty="0"/>
          </a:p>
        </p:txBody>
      </p:sp>
      <p:sp>
        <p:nvSpPr>
          <p:cNvPr id="9" name="Text 7"/>
          <p:cNvSpPr/>
          <p:nvPr/>
        </p:nvSpPr>
        <p:spPr>
          <a:xfrm>
            <a:off x="4698743" y="2285767"/>
            <a:ext cx="1883884"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C0D3"/>
                </a:solidFill>
                <a:latin typeface="IBM Plex Sans" pitchFamily="34" charset="0"/>
                <a:ea typeface="IBM Plex Sans" pitchFamily="34" charset="-122"/>
                <a:cs typeface="IBM Plex Sans" pitchFamily="34" charset="-120"/>
              </a:rPr>
              <a:t>avec pseudo et avatar</a:t>
            </a:r>
            <a:endParaRPr lang="en-US" sz="1200" dirty="0"/>
          </a:p>
        </p:txBody>
      </p:sp>
      <p:sp>
        <p:nvSpPr>
          <p:cNvPr id="10" name="Shape 8"/>
          <p:cNvSpPr/>
          <p:nvPr/>
        </p:nvSpPr>
        <p:spPr>
          <a:xfrm>
            <a:off x="6857822" y="1854057"/>
            <a:ext cx="2184469" cy="797427"/>
          </a:xfrm>
          <a:prstGeom prst="roundRect">
            <a:avLst>
              <a:gd name="adj" fmla="val 11148"/>
            </a:avLst>
          </a:prstGeom>
          <a:solidFill>
            <a:srgbClr val="1B2B44"/>
          </a:solidFill>
          <a:ln/>
        </p:spPr>
      </p:sp>
      <p:sp>
        <p:nvSpPr>
          <p:cNvPr id="11" name="Text 9"/>
          <p:cNvSpPr/>
          <p:nvPr/>
        </p:nvSpPr>
        <p:spPr>
          <a:xfrm>
            <a:off x="7035550" y="2006395"/>
            <a:ext cx="1883884" cy="25399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7FA"/>
                </a:solidFill>
                <a:latin typeface="IBM Plex Sans" pitchFamily="34" charset="0"/>
                <a:ea typeface="IBM Plex Sans" pitchFamily="34" charset="-122"/>
                <a:cs typeface="IBM Plex Sans" pitchFamily="34" charset="-120"/>
              </a:rPr>
              <a:t>Modifications</a:t>
            </a:r>
            <a:endParaRPr lang="en-US" sz="1500" dirty="0"/>
          </a:p>
        </p:txBody>
      </p:sp>
      <p:sp>
        <p:nvSpPr>
          <p:cNvPr id="12" name="Text 10"/>
          <p:cNvSpPr/>
          <p:nvPr/>
        </p:nvSpPr>
        <p:spPr>
          <a:xfrm>
            <a:off x="7035550" y="2285767"/>
            <a:ext cx="1883884"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C0D3"/>
                </a:solidFill>
                <a:latin typeface="IBM Plex Sans" pitchFamily="34" charset="0"/>
                <a:ea typeface="IBM Plex Sans" pitchFamily="34" charset="-122"/>
                <a:cs typeface="IBM Plex Sans" pitchFamily="34" charset="-120"/>
              </a:rPr>
              <a:t>et suppressions</a:t>
            </a:r>
            <a:endParaRPr lang="en-US" sz="1200" dirty="0"/>
          </a:p>
        </p:txBody>
      </p:sp>
      <p:sp>
        <p:nvSpPr>
          <p:cNvPr id="13" name="Shape 11"/>
          <p:cNvSpPr/>
          <p:nvPr/>
        </p:nvSpPr>
        <p:spPr>
          <a:xfrm>
            <a:off x="9194629" y="1854057"/>
            <a:ext cx="2184556" cy="797427"/>
          </a:xfrm>
          <a:prstGeom prst="roundRect">
            <a:avLst>
              <a:gd name="adj" fmla="val 11148"/>
            </a:avLst>
          </a:prstGeom>
          <a:solidFill>
            <a:srgbClr val="1B2B44"/>
          </a:solidFill>
          <a:ln/>
        </p:spPr>
      </p:sp>
      <p:sp>
        <p:nvSpPr>
          <p:cNvPr id="14" name="Text 12"/>
          <p:cNvSpPr/>
          <p:nvPr/>
        </p:nvSpPr>
        <p:spPr>
          <a:xfrm>
            <a:off x="9372357" y="2006395"/>
            <a:ext cx="1883973" cy="25399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7FA"/>
                </a:solidFill>
                <a:latin typeface="IBM Plex Sans" pitchFamily="34" charset="0"/>
                <a:ea typeface="IBM Plex Sans" pitchFamily="34" charset="-122"/>
                <a:cs typeface="IBM Plex Sans" pitchFamily="34" charset="-120"/>
              </a:rPr>
              <a:t>Réponses</a:t>
            </a:r>
            <a:endParaRPr lang="en-US" sz="1500" dirty="0"/>
          </a:p>
        </p:txBody>
      </p:sp>
      <p:sp>
        <p:nvSpPr>
          <p:cNvPr id="15" name="Text 13"/>
          <p:cNvSpPr/>
          <p:nvPr/>
        </p:nvSpPr>
        <p:spPr>
          <a:xfrm>
            <a:off x="9372357" y="2285767"/>
            <a:ext cx="1883973"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C0D3"/>
                </a:solidFill>
                <a:latin typeface="IBM Plex Sans" pitchFamily="34" charset="0"/>
                <a:ea typeface="IBM Plex Sans" pitchFamily="34" charset="-122"/>
                <a:cs typeface="IBM Plex Sans" pitchFamily="34" charset="-120"/>
              </a:rPr>
              <a:t>dans le bon fil</a:t>
            </a:r>
            <a:endParaRPr lang="en-US" sz="1200" dirty="0"/>
          </a:p>
        </p:txBody>
      </p:sp>
      <p:sp>
        <p:nvSpPr>
          <p:cNvPr id="16" name="Shape 14"/>
          <p:cNvSpPr/>
          <p:nvPr/>
        </p:nvSpPr>
        <p:spPr>
          <a:xfrm>
            <a:off x="4521015" y="2803823"/>
            <a:ext cx="2184469" cy="1010805"/>
          </a:xfrm>
          <a:prstGeom prst="roundRect">
            <a:avLst>
              <a:gd name="adj" fmla="val 8795"/>
            </a:avLst>
          </a:prstGeom>
          <a:solidFill>
            <a:srgbClr val="1B2B44"/>
          </a:solidFill>
          <a:ln/>
        </p:spPr>
      </p:sp>
      <p:sp>
        <p:nvSpPr>
          <p:cNvPr id="17" name="Text 15"/>
          <p:cNvSpPr/>
          <p:nvPr/>
        </p:nvSpPr>
        <p:spPr>
          <a:xfrm>
            <a:off x="4698743" y="2956161"/>
            <a:ext cx="1883884" cy="25399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7FA"/>
                </a:solidFill>
                <a:latin typeface="IBM Plex Sans" pitchFamily="34" charset="0"/>
                <a:ea typeface="IBM Plex Sans" pitchFamily="34" charset="-122"/>
                <a:cs typeface="IBM Plex Sans" pitchFamily="34" charset="-120"/>
              </a:rPr>
              <a:t>Réactions</a:t>
            </a:r>
            <a:endParaRPr lang="en-US" sz="1500" dirty="0"/>
          </a:p>
        </p:txBody>
      </p:sp>
      <p:sp>
        <p:nvSpPr>
          <p:cNvPr id="18" name="Text 16"/>
          <p:cNvSpPr/>
          <p:nvPr/>
        </p:nvSpPr>
        <p:spPr>
          <a:xfrm>
            <a:off x="4698743" y="3235533"/>
            <a:ext cx="1883884"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C0D3"/>
                </a:solidFill>
                <a:latin typeface="IBM Plex Sans" pitchFamily="34" charset="0"/>
                <a:ea typeface="IBM Plex Sans" pitchFamily="34" charset="-122"/>
                <a:cs typeface="IBM Plex Sans" pitchFamily="34" charset="-120"/>
              </a:rPr>
              <a:t>ajout et retrait</a:t>
            </a:r>
            <a:endParaRPr lang="en-US" sz="1200" dirty="0"/>
          </a:p>
        </p:txBody>
      </p:sp>
      <p:sp>
        <p:nvSpPr>
          <p:cNvPr id="19" name="Shape 17"/>
          <p:cNvSpPr/>
          <p:nvPr/>
        </p:nvSpPr>
        <p:spPr>
          <a:xfrm>
            <a:off x="6857822" y="2803823"/>
            <a:ext cx="2184469" cy="1010805"/>
          </a:xfrm>
          <a:prstGeom prst="roundRect">
            <a:avLst>
              <a:gd name="adj" fmla="val 8795"/>
            </a:avLst>
          </a:prstGeom>
          <a:solidFill>
            <a:srgbClr val="1B2B44"/>
          </a:solidFill>
          <a:ln/>
        </p:spPr>
      </p:sp>
      <p:sp>
        <p:nvSpPr>
          <p:cNvPr id="20" name="Text 18"/>
          <p:cNvSpPr/>
          <p:nvPr/>
        </p:nvSpPr>
        <p:spPr>
          <a:xfrm>
            <a:off x="7035550" y="2956161"/>
            <a:ext cx="1883884" cy="25399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7FA"/>
                </a:solidFill>
                <a:latin typeface="IBM Plex Sans" pitchFamily="34" charset="0"/>
                <a:ea typeface="IBM Plex Sans" pitchFamily="34" charset="-122"/>
                <a:cs typeface="IBM Plex Sans" pitchFamily="34" charset="-120"/>
              </a:rPr>
              <a:t>Fichiers</a:t>
            </a:r>
            <a:endParaRPr lang="en-US" sz="1500" dirty="0"/>
          </a:p>
        </p:txBody>
      </p:sp>
      <p:sp>
        <p:nvSpPr>
          <p:cNvPr id="21" name="Text 19"/>
          <p:cNvSpPr/>
          <p:nvPr/>
        </p:nvSpPr>
        <p:spPr>
          <a:xfrm>
            <a:off x="7035550" y="3235533"/>
            <a:ext cx="1883884" cy="4521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C0D3"/>
                </a:solidFill>
                <a:latin typeface="IBM Plex Sans" pitchFamily="34" charset="0"/>
                <a:ea typeface="IBM Plex Sans" pitchFamily="34" charset="-122"/>
                <a:cs typeface="IBM Plex Sans" pitchFamily="34" charset="-120"/>
              </a:rPr>
              <a:t>images, vidéos, jusqu’à 50 Mo</a:t>
            </a:r>
            <a:endParaRPr lang="en-US" sz="1200" dirty="0"/>
          </a:p>
        </p:txBody>
      </p:sp>
      <p:sp>
        <p:nvSpPr>
          <p:cNvPr id="22" name="Shape 20"/>
          <p:cNvSpPr/>
          <p:nvPr/>
        </p:nvSpPr>
        <p:spPr>
          <a:xfrm>
            <a:off x="9194629" y="2803823"/>
            <a:ext cx="2184556" cy="1010805"/>
          </a:xfrm>
          <a:prstGeom prst="roundRect">
            <a:avLst>
              <a:gd name="adj" fmla="val 8795"/>
            </a:avLst>
          </a:prstGeom>
          <a:solidFill>
            <a:srgbClr val="1B2B44"/>
          </a:solidFill>
          <a:ln/>
        </p:spPr>
      </p:sp>
      <p:sp>
        <p:nvSpPr>
          <p:cNvPr id="23" name="Text 21"/>
          <p:cNvSpPr/>
          <p:nvPr/>
        </p:nvSpPr>
        <p:spPr>
          <a:xfrm>
            <a:off x="9372357" y="2956161"/>
            <a:ext cx="1883973" cy="25399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7FA"/>
                </a:solidFill>
                <a:latin typeface="IBM Plex Sans" pitchFamily="34" charset="0"/>
                <a:ea typeface="IBM Plex Sans" pitchFamily="34" charset="-122"/>
                <a:cs typeface="IBM Plex Sans" pitchFamily="34" charset="-120"/>
              </a:rPr>
              <a:t>Vocaux</a:t>
            </a:r>
            <a:endParaRPr lang="en-US" sz="1500" dirty="0"/>
          </a:p>
        </p:txBody>
      </p:sp>
      <p:sp>
        <p:nvSpPr>
          <p:cNvPr id="24" name="Text 22"/>
          <p:cNvSpPr/>
          <p:nvPr/>
        </p:nvSpPr>
        <p:spPr>
          <a:xfrm>
            <a:off x="9372357" y="3235533"/>
            <a:ext cx="1883973"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C0D3"/>
                </a:solidFill>
                <a:latin typeface="IBM Plex Sans" pitchFamily="34" charset="0"/>
                <a:ea typeface="IBM Plex Sans" pitchFamily="34" charset="-122"/>
                <a:cs typeface="IBM Plex Sans" pitchFamily="34" charset="-120"/>
              </a:rPr>
              <a:t>messages audio .ogg</a:t>
            </a:r>
            <a:endParaRPr lang="en-US" sz="1200" dirty="0"/>
          </a:p>
        </p:txBody>
      </p:sp>
      <p:sp>
        <p:nvSpPr>
          <p:cNvPr id="25" name="Shape 23"/>
          <p:cNvSpPr/>
          <p:nvPr/>
        </p:nvSpPr>
        <p:spPr>
          <a:xfrm>
            <a:off x="4521015" y="3966964"/>
            <a:ext cx="2184469" cy="797427"/>
          </a:xfrm>
          <a:prstGeom prst="roundRect">
            <a:avLst>
              <a:gd name="adj" fmla="val 11148"/>
            </a:avLst>
          </a:prstGeom>
          <a:solidFill>
            <a:srgbClr val="1B2B44"/>
          </a:solidFill>
          <a:ln/>
        </p:spPr>
      </p:sp>
      <p:sp>
        <p:nvSpPr>
          <p:cNvPr id="26" name="Text 24"/>
          <p:cNvSpPr/>
          <p:nvPr/>
        </p:nvSpPr>
        <p:spPr>
          <a:xfrm>
            <a:off x="4698743" y="4119302"/>
            <a:ext cx="1883884" cy="25399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7FA"/>
                </a:solidFill>
                <a:latin typeface="IBM Plex Sans" pitchFamily="34" charset="0"/>
                <a:ea typeface="IBM Plex Sans" pitchFamily="34" charset="-122"/>
                <a:cs typeface="IBM Plex Sans" pitchFamily="34" charset="-120"/>
              </a:rPr>
              <a:t>GIF</a:t>
            </a:r>
            <a:endParaRPr lang="en-US" sz="1500" dirty="0"/>
          </a:p>
        </p:txBody>
      </p:sp>
      <p:sp>
        <p:nvSpPr>
          <p:cNvPr id="27" name="Text 25"/>
          <p:cNvSpPr/>
          <p:nvPr/>
        </p:nvSpPr>
        <p:spPr>
          <a:xfrm>
            <a:off x="4698743" y="4398677"/>
            <a:ext cx="1883884"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C0D3"/>
                </a:solidFill>
                <a:latin typeface="IBM Plex Sans" pitchFamily="34" charset="0"/>
                <a:ea typeface="IBM Plex Sans" pitchFamily="34" charset="-122"/>
                <a:cs typeface="IBM Plex Sans" pitchFamily="34" charset="-120"/>
              </a:rPr>
              <a:t>Tenor, Giphy, fichiers</a:t>
            </a:r>
            <a:endParaRPr lang="en-US" sz="1200" dirty="0"/>
          </a:p>
        </p:txBody>
      </p:sp>
      <p:sp>
        <p:nvSpPr>
          <p:cNvPr id="28" name="Shape 26"/>
          <p:cNvSpPr/>
          <p:nvPr/>
        </p:nvSpPr>
        <p:spPr>
          <a:xfrm>
            <a:off x="6857822" y="3966964"/>
            <a:ext cx="2184469" cy="797427"/>
          </a:xfrm>
          <a:prstGeom prst="roundRect">
            <a:avLst>
              <a:gd name="adj" fmla="val 11148"/>
            </a:avLst>
          </a:prstGeom>
          <a:solidFill>
            <a:srgbClr val="1B2B44"/>
          </a:solidFill>
          <a:ln/>
        </p:spPr>
      </p:sp>
      <p:sp>
        <p:nvSpPr>
          <p:cNvPr id="29" name="Text 27"/>
          <p:cNvSpPr/>
          <p:nvPr/>
        </p:nvSpPr>
        <p:spPr>
          <a:xfrm>
            <a:off x="7035550" y="4119302"/>
            <a:ext cx="1883884" cy="25399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7FA"/>
                </a:solidFill>
                <a:latin typeface="IBM Plex Sans" pitchFamily="34" charset="0"/>
                <a:ea typeface="IBM Plex Sans" pitchFamily="34" charset="-122"/>
                <a:cs typeface="IBM Plex Sans" pitchFamily="34" charset="-120"/>
              </a:rPr>
              <a:t>Stickers</a:t>
            </a:r>
            <a:endParaRPr lang="en-US" sz="1500" dirty="0"/>
          </a:p>
        </p:txBody>
      </p:sp>
      <p:sp>
        <p:nvSpPr>
          <p:cNvPr id="30" name="Text 28"/>
          <p:cNvSpPr/>
          <p:nvPr/>
        </p:nvSpPr>
        <p:spPr>
          <a:xfrm>
            <a:off x="7035550" y="4398677"/>
            <a:ext cx="1883884"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C0D3"/>
                </a:solidFill>
                <a:latin typeface="IBM Plex Sans" pitchFamily="34" charset="0"/>
                <a:ea typeface="IBM Plex Sans" pitchFamily="34" charset="-122"/>
                <a:cs typeface="IBM Plex Sans" pitchFamily="34" charset="-120"/>
              </a:rPr>
              <a:t>Discord → Mattermost</a:t>
            </a:r>
            <a:endParaRPr lang="en-US" sz="1200" dirty="0"/>
          </a:p>
        </p:txBody>
      </p:sp>
      <p:sp>
        <p:nvSpPr>
          <p:cNvPr id="31" name="Shape 29"/>
          <p:cNvSpPr/>
          <p:nvPr/>
        </p:nvSpPr>
        <p:spPr>
          <a:xfrm>
            <a:off x="9194629" y="3966964"/>
            <a:ext cx="2184556" cy="797427"/>
          </a:xfrm>
          <a:prstGeom prst="roundRect">
            <a:avLst>
              <a:gd name="adj" fmla="val 11148"/>
            </a:avLst>
          </a:prstGeom>
          <a:solidFill>
            <a:srgbClr val="2F6FED"/>
          </a:solidFill>
          <a:ln/>
        </p:spPr>
      </p:sp>
      <p:sp>
        <p:nvSpPr>
          <p:cNvPr id="32" name="Text 30"/>
          <p:cNvSpPr/>
          <p:nvPr/>
        </p:nvSpPr>
        <p:spPr>
          <a:xfrm>
            <a:off x="9372357" y="4119302"/>
            <a:ext cx="1883973" cy="25399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7F9FC"/>
                </a:solidFill>
                <a:latin typeface="IBM Plex Sans" pitchFamily="34" charset="0"/>
                <a:ea typeface="IBM Plex Sans" pitchFamily="34" charset="-122"/>
                <a:cs typeface="IBM Plex Sans" pitchFamily="34" charset="-120"/>
              </a:rPr>
              <a:t>Sondages</a:t>
            </a:r>
            <a:endParaRPr lang="en-US" sz="1500" dirty="0"/>
          </a:p>
        </p:txBody>
      </p:sp>
      <p:sp>
        <p:nvSpPr>
          <p:cNvPr id="33" name="Text 31"/>
          <p:cNvSpPr/>
          <p:nvPr/>
        </p:nvSpPr>
        <p:spPr>
          <a:xfrm>
            <a:off x="9372357" y="4398677"/>
            <a:ext cx="1883973"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9FC"/>
                </a:solidFill>
                <a:latin typeface="IBM Plex Sans" pitchFamily="34" charset="0"/>
                <a:ea typeface="IBM Plex Sans" pitchFamily="34" charset="-122"/>
                <a:cs typeface="IBM Plex Sans" pitchFamily="34" charset="-120"/>
              </a:rPr>
              <a:t>votes des deux côtés</a:t>
            </a:r>
            <a:endParaRPr lang="en-US" sz="1200" dirty="0"/>
          </a:p>
        </p:txBody>
      </p:sp>
      <p:sp>
        <p:nvSpPr>
          <p:cNvPr id="34" name="Text 32"/>
          <p:cNvSpPr/>
          <p:nvPr/>
        </p:nvSpPr>
        <p:spPr>
          <a:xfrm>
            <a:off x="812731" y="6235688"/>
            <a:ext cx="2760554" cy="24129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C0D3"/>
                </a:solidFill>
                <a:latin typeface="IBM Plex Sans" pitchFamily="34" charset="0"/>
                <a:ea typeface="IBM Plex Sans" pitchFamily="34" charset="-122"/>
                <a:cs typeface="IBM Plex Sans" pitchFamily="34" charset="-120"/>
              </a:rPr>
              <a:t>IM Bridge · Mattermost ⇄ Discord</a:t>
            </a:r>
            <a:endParaRPr lang="en-US" sz="1200" dirty="0"/>
          </a:p>
        </p:txBody>
      </p:sp>
      <p:sp>
        <p:nvSpPr>
          <p:cNvPr id="35" name="Text 33"/>
          <p:cNvSpPr/>
          <p:nvPr/>
        </p:nvSpPr>
        <p:spPr>
          <a:xfrm>
            <a:off x="10893598" y="6235688"/>
            <a:ext cx="485499" cy="24129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4C0D3"/>
                </a:solidFill>
                <a:latin typeface="IBM Plex Sans" pitchFamily="34" charset="0"/>
                <a:ea typeface="IBM Plex Sans" pitchFamily="34" charset="-122"/>
                <a:cs typeface="IBM Plex Sans" pitchFamily="34" charset="-120"/>
              </a:rPr>
              <a:t>5 / 14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731" y="812729"/>
            <a:ext cx="10883447" cy="238778"/>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F6FED"/>
                </a:solidFill>
                <a:latin typeface="JetBrains Mono" pitchFamily="49" charset="0"/>
                <a:ea typeface="JetBrains Mono" pitchFamily="49" charset="-122"/>
                <a:cs typeface="JetBrains Mono" pitchFamily="49" charset="-120"/>
              </a:rPr>
              <a:t>LE BRIDGE</a:t>
            </a:r>
            <a:endParaRPr lang="en-US" sz="1200" dirty="0"/>
          </a:p>
        </p:txBody>
      </p:sp>
      <p:sp>
        <p:nvSpPr>
          <p:cNvPr id="3" name="Text 1"/>
          <p:cNvSpPr/>
          <p:nvPr>
            <p:ph type="title"/>
          </p:nvPr>
        </p:nvSpPr>
        <p:spPr>
          <a:xfrm>
            <a:off x="812731" y="1102277"/>
            <a:ext cx="10883447" cy="472415"/>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Parcours d’un message Discord</a:t>
            </a:r>
            <a:endParaRPr lang="en-US" sz="3200" dirty="0"/>
          </a:p>
        </p:txBody>
      </p:sp>
      <p:sp>
        <p:nvSpPr>
          <p:cNvPr id="4" name="Shape 2"/>
          <p:cNvSpPr/>
          <p:nvPr/>
        </p:nvSpPr>
        <p:spPr>
          <a:xfrm>
            <a:off x="819081" y="1911272"/>
            <a:ext cx="1892222" cy="2527224"/>
          </a:xfrm>
          <a:prstGeom prst="roundRect">
            <a:avLst>
              <a:gd name="adj" fmla="val 5705"/>
            </a:avLst>
          </a:prstGeom>
          <a:solidFill>
            <a:srgbClr val="FDFDFC"/>
          </a:solidFill>
          <a:ln w="12700">
            <a:solidFill>
              <a:srgbClr val="DCE2EA"/>
            </a:solidFill>
            <a:prstDash val="solid"/>
          </a:ln>
        </p:spPr>
      </p:sp>
      <p:sp>
        <p:nvSpPr>
          <p:cNvPr id="5" name="Text 3"/>
          <p:cNvSpPr/>
          <p:nvPr/>
        </p:nvSpPr>
        <p:spPr>
          <a:xfrm>
            <a:off x="1001588" y="2093779"/>
            <a:ext cx="406322" cy="406322"/>
          </a:xfrm>
          <a:prstGeom prst="roundRect">
            <a:avLst>
              <a:gd name="adj" fmla="val 50000"/>
            </a:avLst>
          </a:prstGeom>
          <a:solidFill>
            <a:srgbClr val="2F6FED"/>
          </a:solidFill>
          <a:ln/>
        </p:spPr>
        <p:txBody>
          <a:bodyPr wrap="square" lIns="0" tIns="0" rIns="0" bIns="0" rtlCol="0" anchor="ctr">
            <a:normAutofit/>
          </a:bodyPr>
          <a:lstStyle/>
          <a:p>
            <a:pPr algn="ctr" indent="0" marL="0">
              <a:lnSpc>
                <a:spcPts val="2100"/>
              </a:lnSpc>
              <a:buNone/>
            </a:pPr>
            <a:r>
              <a:rPr lang="en-US" sz="1500" b="1" dirty="0">
                <a:solidFill>
                  <a:srgbClr val="F7F9FC"/>
                </a:solidFill>
                <a:latin typeface="IBM Plex Sans" pitchFamily="34" charset="0"/>
                <a:ea typeface="IBM Plex Sans" pitchFamily="34" charset="-122"/>
                <a:cs typeface="IBM Plex Sans" pitchFamily="34" charset="-120"/>
              </a:rPr>
              <a:t>1</a:t>
            </a:r>
            <a:endParaRPr lang="en-US" sz="1500" dirty="0"/>
          </a:p>
        </p:txBody>
      </p:sp>
      <p:sp>
        <p:nvSpPr>
          <p:cNvPr id="6" name="Text 4"/>
          <p:cNvSpPr/>
          <p:nvPr/>
        </p:nvSpPr>
        <p:spPr>
          <a:xfrm>
            <a:off x="1001588" y="2601658"/>
            <a:ext cx="1578007" cy="482588"/>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1B2D"/>
                </a:solidFill>
                <a:latin typeface="IBM Plex Sans" pitchFamily="34" charset="0"/>
                <a:ea typeface="IBM Plex Sans" pitchFamily="34" charset="-122"/>
                <a:cs typeface="IBM Plex Sans" pitchFamily="34" charset="-120"/>
              </a:rPr>
              <a:t>Alice poste sur Discord</a:t>
            </a:r>
            <a:endParaRPr lang="en-US" sz="1500" dirty="0"/>
          </a:p>
        </p:txBody>
      </p:sp>
      <p:sp>
        <p:nvSpPr>
          <p:cNvPr id="7" name="Text 5"/>
          <p:cNvSpPr/>
          <p:nvPr/>
        </p:nvSpPr>
        <p:spPr>
          <a:xfrm>
            <a:off x="1001588" y="3160406"/>
            <a:ext cx="1578007" cy="66553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IBM Plex Sans" pitchFamily="34" charset="0"/>
                <a:ea typeface="IBM Plex Sans" pitchFamily="34" charset="-122"/>
                <a:cs typeface="IBM Plex Sans" pitchFamily="34" charset="-120"/>
              </a:rPr>
              <a:t>Le bridge reçoit l’événement par la Gateway Discord.</a:t>
            </a:r>
            <a:endParaRPr lang="en-US" sz="1200" dirty="0"/>
          </a:p>
        </p:txBody>
      </p:sp>
      <p:sp>
        <p:nvSpPr>
          <p:cNvPr id="8" name="Shape 6"/>
          <p:cNvSpPr/>
          <p:nvPr/>
        </p:nvSpPr>
        <p:spPr>
          <a:xfrm>
            <a:off x="2984420" y="1911272"/>
            <a:ext cx="1892222" cy="2527224"/>
          </a:xfrm>
          <a:prstGeom prst="roundRect">
            <a:avLst>
              <a:gd name="adj" fmla="val 5705"/>
            </a:avLst>
          </a:prstGeom>
          <a:solidFill>
            <a:srgbClr val="FDFDFC"/>
          </a:solidFill>
          <a:ln w="12700">
            <a:solidFill>
              <a:srgbClr val="DCE2EA"/>
            </a:solidFill>
            <a:prstDash val="solid"/>
          </a:ln>
        </p:spPr>
      </p:sp>
      <p:sp>
        <p:nvSpPr>
          <p:cNvPr id="9" name="Text 7"/>
          <p:cNvSpPr/>
          <p:nvPr/>
        </p:nvSpPr>
        <p:spPr>
          <a:xfrm>
            <a:off x="3166928" y="2093779"/>
            <a:ext cx="406322" cy="406322"/>
          </a:xfrm>
          <a:prstGeom prst="roundRect">
            <a:avLst>
              <a:gd name="adj" fmla="val 50000"/>
            </a:avLst>
          </a:prstGeom>
          <a:solidFill>
            <a:srgbClr val="2F6FED"/>
          </a:solidFill>
          <a:ln/>
        </p:spPr>
        <p:txBody>
          <a:bodyPr wrap="square" lIns="0" tIns="0" rIns="0" bIns="0" rtlCol="0" anchor="ctr">
            <a:normAutofit/>
          </a:bodyPr>
          <a:lstStyle/>
          <a:p>
            <a:pPr algn="ctr" indent="0" marL="0">
              <a:lnSpc>
                <a:spcPts val="2100"/>
              </a:lnSpc>
              <a:buNone/>
            </a:pPr>
            <a:r>
              <a:rPr lang="en-US" sz="1500" b="1" dirty="0">
                <a:solidFill>
                  <a:srgbClr val="F7F9FC"/>
                </a:solidFill>
                <a:latin typeface="IBM Plex Sans" pitchFamily="34" charset="0"/>
                <a:ea typeface="IBM Plex Sans" pitchFamily="34" charset="-122"/>
                <a:cs typeface="IBM Plex Sans" pitchFamily="34" charset="-120"/>
              </a:rPr>
              <a:t>2</a:t>
            </a:r>
            <a:endParaRPr lang="en-US" sz="1500" dirty="0"/>
          </a:p>
        </p:txBody>
      </p:sp>
      <p:sp>
        <p:nvSpPr>
          <p:cNvPr id="10" name="Text 8"/>
          <p:cNvSpPr/>
          <p:nvPr/>
        </p:nvSpPr>
        <p:spPr>
          <a:xfrm>
            <a:off x="3166928" y="2601658"/>
            <a:ext cx="1703364" cy="25399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1B2D"/>
                </a:solidFill>
                <a:latin typeface="IBM Plex Sans" pitchFamily="34" charset="0"/>
                <a:ea typeface="IBM Plex Sans" pitchFamily="34" charset="-122"/>
                <a:cs typeface="IBM Plex Sans" pitchFamily="34" charset="-120"/>
              </a:rPr>
              <a:t>Filtre anti-boucle</a:t>
            </a:r>
            <a:endParaRPr lang="en-US" sz="1500" dirty="0"/>
          </a:p>
        </p:txBody>
      </p:sp>
      <p:sp>
        <p:nvSpPr>
          <p:cNvPr id="11" name="Text 9"/>
          <p:cNvSpPr/>
          <p:nvPr/>
        </p:nvSpPr>
        <p:spPr>
          <a:xfrm>
            <a:off x="3166928" y="2931812"/>
            <a:ext cx="1578007" cy="109228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IBM Plex Sans" pitchFamily="34" charset="0"/>
                <a:ea typeface="IBM Plex Sans" pitchFamily="34" charset="-122"/>
                <a:cs typeface="IBM Plex Sans" pitchFamily="34" charset="-120"/>
              </a:rPr>
              <a:t>Ses propres messages sont ignorés, sinon ils rebondiraient à l’infini.</a:t>
            </a:r>
            <a:endParaRPr lang="en-US" sz="1200" dirty="0"/>
          </a:p>
        </p:txBody>
      </p:sp>
      <p:sp>
        <p:nvSpPr>
          <p:cNvPr id="12" name="Shape 10"/>
          <p:cNvSpPr/>
          <p:nvPr/>
        </p:nvSpPr>
        <p:spPr>
          <a:xfrm>
            <a:off x="5149847" y="1911272"/>
            <a:ext cx="1892222" cy="2527224"/>
          </a:xfrm>
          <a:prstGeom prst="roundRect">
            <a:avLst>
              <a:gd name="adj" fmla="val 5705"/>
            </a:avLst>
          </a:prstGeom>
          <a:solidFill>
            <a:srgbClr val="FDFDFC"/>
          </a:solidFill>
          <a:ln w="12700">
            <a:solidFill>
              <a:srgbClr val="DCE2EA"/>
            </a:solidFill>
            <a:prstDash val="solid"/>
          </a:ln>
        </p:spPr>
      </p:sp>
      <p:sp>
        <p:nvSpPr>
          <p:cNvPr id="13" name="Text 11"/>
          <p:cNvSpPr/>
          <p:nvPr/>
        </p:nvSpPr>
        <p:spPr>
          <a:xfrm>
            <a:off x="5332354" y="2093779"/>
            <a:ext cx="406322" cy="406322"/>
          </a:xfrm>
          <a:prstGeom prst="roundRect">
            <a:avLst>
              <a:gd name="adj" fmla="val 50000"/>
            </a:avLst>
          </a:prstGeom>
          <a:solidFill>
            <a:srgbClr val="2F6FED"/>
          </a:solidFill>
          <a:ln/>
        </p:spPr>
        <p:txBody>
          <a:bodyPr wrap="square" lIns="0" tIns="0" rIns="0" bIns="0" rtlCol="0" anchor="ctr">
            <a:normAutofit/>
          </a:bodyPr>
          <a:lstStyle/>
          <a:p>
            <a:pPr algn="ctr" indent="0" marL="0">
              <a:lnSpc>
                <a:spcPts val="2100"/>
              </a:lnSpc>
              <a:buNone/>
            </a:pPr>
            <a:r>
              <a:rPr lang="en-US" sz="1500" b="1" dirty="0">
                <a:solidFill>
                  <a:srgbClr val="F7F9FC"/>
                </a:solidFill>
                <a:latin typeface="IBM Plex Sans" pitchFamily="34" charset="0"/>
                <a:ea typeface="IBM Plex Sans" pitchFamily="34" charset="-122"/>
                <a:cs typeface="IBM Plex Sans" pitchFamily="34" charset="-120"/>
              </a:rPr>
              <a:t>3</a:t>
            </a:r>
            <a:endParaRPr lang="en-US" sz="1500" dirty="0"/>
          </a:p>
        </p:txBody>
      </p:sp>
      <p:sp>
        <p:nvSpPr>
          <p:cNvPr id="14" name="Text 12"/>
          <p:cNvSpPr/>
          <p:nvPr/>
        </p:nvSpPr>
        <p:spPr>
          <a:xfrm>
            <a:off x="5332354" y="2601658"/>
            <a:ext cx="1578007" cy="482588"/>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1B2D"/>
                </a:solidFill>
                <a:latin typeface="IBM Plex Sans" pitchFamily="34" charset="0"/>
                <a:ea typeface="IBM Plex Sans" pitchFamily="34" charset="-122"/>
                <a:cs typeface="IBM Plex Sans" pitchFamily="34" charset="-120"/>
              </a:rPr>
              <a:t>Fichiers ré-uploadés</a:t>
            </a:r>
            <a:endParaRPr lang="en-US" sz="1500" dirty="0"/>
          </a:p>
        </p:txBody>
      </p:sp>
      <p:sp>
        <p:nvSpPr>
          <p:cNvPr id="15" name="Text 13"/>
          <p:cNvSpPr/>
          <p:nvPr/>
        </p:nvSpPr>
        <p:spPr>
          <a:xfrm>
            <a:off x="5332354" y="3160406"/>
            <a:ext cx="1578007" cy="87891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IBM Plex Sans" pitchFamily="34" charset="0"/>
                <a:ea typeface="IBM Plex Sans" pitchFamily="34" charset="-122"/>
                <a:cs typeface="IBM Plex Sans" pitchFamily="34" charset="-120"/>
              </a:rPr>
              <a:t>Les liens du CDN Discord expirent : le fichier est copié dans Mattermost.</a:t>
            </a:r>
            <a:endParaRPr lang="en-US" sz="1200" dirty="0"/>
          </a:p>
        </p:txBody>
      </p:sp>
      <p:sp>
        <p:nvSpPr>
          <p:cNvPr id="16" name="Shape 14"/>
          <p:cNvSpPr/>
          <p:nvPr/>
        </p:nvSpPr>
        <p:spPr>
          <a:xfrm>
            <a:off x="7315186" y="1911272"/>
            <a:ext cx="1892222" cy="2527224"/>
          </a:xfrm>
          <a:prstGeom prst="roundRect">
            <a:avLst>
              <a:gd name="adj" fmla="val 5705"/>
            </a:avLst>
          </a:prstGeom>
          <a:solidFill>
            <a:srgbClr val="FDFDFC"/>
          </a:solidFill>
          <a:ln w="12700">
            <a:solidFill>
              <a:srgbClr val="DCE2EA"/>
            </a:solidFill>
            <a:prstDash val="solid"/>
          </a:ln>
        </p:spPr>
      </p:sp>
      <p:sp>
        <p:nvSpPr>
          <p:cNvPr id="17" name="Text 15"/>
          <p:cNvSpPr/>
          <p:nvPr/>
        </p:nvSpPr>
        <p:spPr>
          <a:xfrm>
            <a:off x="7497694" y="2093779"/>
            <a:ext cx="406322" cy="406322"/>
          </a:xfrm>
          <a:prstGeom prst="roundRect">
            <a:avLst>
              <a:gd name="adj" fmla="val 50000"/>
            </a:avLst>
          </a:prstGeom>
          <a:solidFill>
            <a:srgbClr val="2F6FED"/>
          </a:solidFill>
          <a:ln/>
        </p:spPr>
        <p:txBody>
          <a:bodyPr wrap="square" lIns="0" tIns="0" rIns="0" bIns="0" rtlCol="0" anchor="ctr">
            <a:normAutofit/>
          </a:bodyPr>
          <a:lstStyle/>
          <a:p>
            <a:pPr algn="ctr" indent="0" marL="0">
              <a:lnSpc>
                <a:spcPts val="2100"/>
              </a:lnSpc>
              <a:buNone/>
            </a:pPr>
            <a:r>
              <a:rPr lang="en-US" sz="1500" b="1" dirty="0">
                <a:solidFill>
                  <a:srgbClr val="F7F9FC"/>
                </a:solidFill>
                <a:latin typeface="IBM Plex Sans" pitchFamily="34" charset="0"/>
                <a:ea typeface="IBM Plex Sans" pitchFamily="34" charset="-122"/>
                <a:cs typeface="IBM Plex Sans" pitchFamily="34" charset="-120"/>
              </a:rPr>
              <a:t>4</a:t>
            </a:r>
            <a:endParaRPr lang="en-US" sz="1500" dirty="0"/>
          </a:p>
        </p:txBody>
      </p:sp>
      <p:sp>
        <p:nvSpPr>
          <p:cNvPr id="18" name="Text 16"/>
          <p:cNvSpPr/>
          <p:nvPr/>
        </p:nvSpPr>
        <p:spPr>
          <a:xfrm>
            <a:off x="7497694" y="2601658"/>
            <a:ext cx="1578007" cy="25399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1B2D"/>
                </a:solidFill>
                <a:latin typeface="IBM Plex Sans" pitchFamily="34" charset="0"/>
                <a:ea typeface="IBM Plex Sans" pitchFamily="34" charset="-122"/>
                <a:cs typeface="IBM Plex Sans" pitchFamily="34" charset="-120"/>
              </a:rPr>
              <a:t>Post Mattermost</a:t>
            </a:r>
            <a:endParaRPr lang="en-US" sz="1500" dirty="0"/>
          </a:p>
        </p:txBody>
      </p:sp>
      <p:sp>
        <p:nvSpPr>
          <p:cNvPr id="19" name="Text 17"/>
          <p:cNvSpPr/>
          <p:nvPr/>
        </p:nvSpPr>
        <p:spPr>
          <a:xfrm>
            <a:off x="7497694" y="2931812"/>
            <a:ext cx="1578007" cy="66553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IBM Plex Sans" pitchFamily="34" charset="0"/>
                <a:ea typeface="IBM Plex Sans" pitchFamily="34" charset="-122"/>
                <a:cs typeface="IBM Plex Sans" pitchFamily="34" charset="-120"/>
              </a:rPr>
              <a:t>Créé par l’API REST, avec le pseudo et l’avatar d’Alice.</a:t>
            </a:r>
            <a:endParaRPr lang="en-US" sz="1200" dirty="0"/>
          </a:p>
        </p:txBody>
      </p:sp>
      <p:sp>
        <p:nvSpPr>
          <p:cNvPr id="20" name="Shape 18"/>
          <p:cNvSpPr/>
          <p:nvPr/>
        </p:nvSpPr>
        <p:spPr>
          <a:xfrm>
            <a:off x="9480526" y="1911272"/>
            <a:ext cx="1892222" cy="2527224"/>
          </a:xfrm>
          <a:prstGeom prst="roundRect">
            <a:avLst>
              <a:gd name="adj" fmla="val 5705"/>
            </a:avLst>
          </a:prstGeom>
          <a:solidFill>
            <a:srgbClr val="FDFDFC"/>
          </a:solidFill>
          <a:ln w="12700">
            <a:solidFill>
              <a:srgbClr val="DCE2EA"/>
            </a:solidFill>
            <a:prstDash val="solid"/>
          </a:ln>
        </p:spPr>
      </p:sp>
      <p:sp>
        <p:nvSpPr>
          <p:cNvPr id="21" name="Text 19"/>
          <p:cNvSpPr/>
          <p:nvPr/>
        </p:nvSpPr>
        <p:spPr>
          <a:xfrm>
            <a:off x="9663033" y="2093779"/>
            <a:ext cx="406322" cy="406322"/>
          </a:xfrm>
          <a:prstGeom prst="roundRect">
            <a:avLst>
              <a:gd name="adj" fmla="val 50000"/>
            </a:avLst>
          </a:prstGeom>
          <a:solidFill>
            <a:srgbClr val="E8833A"/>
          </a:solidFill>
          <a:ln/>
        </p:spPr>
        <p:txBody>
          <a:bodyPr wrap="square" lIns="0" tIns="0" rIns="0" bIns="0" rtlCol="0" anchor="ctr">
            <a:normAutofit/>
          </a:bodyPr>
          <a:lstStyle/>
          <a:p>
            <a:pPr algn="ctr" indent="0" marL="0">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5</a:t>
            </a:r>
            <a:endParaRPr lang="en-US" sz="1500" dirty="0"/>
          </a:p>
        </p:txBody>
      </p:sp>
      <p:sp>
        <p:nvSpPr>
          <p:cNvPr id="22" name="Text 20"/>
          <p:cNvSpPr/>
          <p:nvPr/>
        </p:nvSpPr>
        <p:spPr>
          <a:xfrm>
            <a:off x="9663033" y="2601658"/>
            <a:ext cx="1578007" cy="25399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1B2D"/>
                </a:solidFill>
                <a:latin typeface="IBM Plex Sans" pitchFamily="34" charset="0"/>
                <a:ea typeface="IBM Plex Sans" pitchFamily="34" charset="-122"/>
                <a:cs typeface="IBM Plex Sans" pitchFamily="34" charset="-120"/>
              </a:rPr>
              <a:t>Store des IDs</a:t>
            </a:r>
            <a:endParaRPr lang="en-US" sz="1500" dirty="0"/>
          </a:p>
        </p:txBody>
      </p:sp>
      <p:sp>
        <p:nvSpPr>
          <p:cNvPr id="23" name="Text 21"/>
          <p:cNvSpPr/>
          <p:nvPr/>
        </p:nvSpPr>
        <p:spPr>
          <a:xfrm>
            <a:off x="9663033" y="2931812"/>
            <a:ext cx="1578007" cy="87891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IBM Plex Sans" pitchFamily="34" charset="0"/>
                <a:ea typeface="IBM Plex Sans" pitchFamily="34" charset="-122"/>
                <a:cs typeface="IBM Plex Sans" pitchFamily="34" charset="-120"/>
              </a:rPr>
              <a:t>ID Discord ⇄ ID Mattermost, gardé dans le volume bridge-data.</a:t>
            </a:r>
            <a:endParaRPr lang="en-US" sz="1200" dirty="0"/>
          </a:p>
        </p:txBody>
      </p:sp>
      <p:sp>
        <p:nvSpPr>
          <p:cNvPr id="24" name="Text 22"/>
          <p:cNvSpPr/>
          <p:nvPr/>
        </p:nvSpPr>
        <p:spPr>
          <a:xfrm>
            <a:off x="812731" y="4698916"/>
            <a:ext cx="10566367" cy="939592"/>
          </a:xfrm>
          <a:prstGeom prst="roundRect">
            <a:avLst>
              <a:gd name="adj" fmla="val 10813"/>
            </a:avLst>
          </a:prstGeom>
          <a:solidFill>
            <a:srgbClr val="0F1B2D"/>
          </a:solidFill>
          <a:ln/>
        </p:spPr>
        <p:txBody>
          <a:bodyPr wrap="square" lIns="224226" tIns="173442" rIns="0" bIns="147877" rtlCol="0" anchor="t">
            <a:normAutofit/>
          </a:bodyPr>
          <a:lstStyle/>
          <a:p>
            <a:pPr algn="l" indent="0" marL="0">
              <a:lnSpc>
                <a:spcPts val="2100"/>
              </a:lnSpc>
              <a:buNone/>
            </a:pPr>
            <a:r>
              <a:rPr lang="en-US" sz="1500" dirty="0">
                <a:solidFill>
                  <a:srgbClr val="7FA8FF"/>
                </a:solidFill>
                <a:latin typeface="IBM Plex Sans" pitchFamily="34" charset="0"/>
                <a:ea typeface="IBM Plex Sans" pitchFamily="34" charset="-122"/>
                <a:cs typeface="IBM Plex Sans" pitchFamily="34" charset="-120"/>
              </a:rPr>
              <a:t>La clé, c’est le store :</a:t>
            </a:r>
            <a:r>
              <a:rPr lang="en-US" sz="1500" dirty="0">
                <a:solidFill>
                  <a:srgbClr val="F5F7FA"/>
                </a:solidFill>
                <a:latin typeface="IBM Plex Sans" pitchFamily="34" charset="0"/>
                <a:ea typeface="IBM Plex Sans" pitchFamily="34" charset="-122"/>
                <a:cs typeface="IBM Plex Sans" pitchFamily="34" charset="-120"/>
              </a:rPr>
              <a:t> réponses, réactions, modifications et suppressions retrouvent le bon message de l’autre côté, même après un redémarrage.</a:t>
            </a:r>
            <a:endParaRPr lang="en-US" sz="1500" dirty="0"/>
          </a:p>
        </p:txBody>
      </p:sp>
      <p:sp>
        <p:nvSpPr>
          <p:cNvPr id="25" name="Text 23"/>
          <p:cNvSpPr/>
          <p:nvPr/>
        </p:nvSpPr>
        <p:spPr>
          <a:xfrm>
            <a:off x="812731" y="6235688"/>
            <a:ext cx="2760554" cy="24129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9"/>
                </a:solidFill>
                <a:latin typeface="IBM Plex Sans" pitchFamily="34" charset="0"/>
                <a:ea typeface="IBM Plex Sans" pitchFamily="34" charset="-122"/>
                <a:cs typeface="IBM Plex Sans" pitchFamily="34" charset="-120"/>
              </a:rPr>
              <a:t>IM Bridge · Mattermost ⇄ Discord</a:t>
            </a:r>
            <a:endParaRPr lang="en-US" sz="1200" dirty="0"/>
          </a:p>
        </p:txBody>
      </p:sp>
      <p:sp>
        <p:nvSpPr>
          <p:cNvPr id="26" name="Text 24"/>
          <p:cNvSpPr/>
          <p:nvPr/>
        </p:nvSpPr>
        <p:spPr>
          <a:xfrm>
            <a:off x="10893598" y="6235688"/>
            <a:ext cx="485499" cy="24129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9"/>
                </a:solidFill>
                <a:latin typeface="IBM Plex Sans" pitchFamily="34" charset="0"/>
                <a:ea typeface="IBM Plex Sans" pitchFamily="34" charset="-122"/>
                <a:cs typeface="IBM Plex Sans" pitchFamily="34" charset="-120"/>
              </a:rPr>
              <a:t>6 / 14</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731" y="812732"/>
            <a:ext cx="10883447" cy="238778"/>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F6FED"/>
                </a:solidFill>
                <a:latin typeface="JetBrains Mono" pitchFamily="49" charset="0"/>
                <a:ea typeface="JetBrains Mono" pitchFamily="49" charset="-122"/>
                <a:cs typeface="JetBrains Mono" pitchFamily="49" charset="-120"/>
              </a:rPr>
              <a:t>HEALTHCHECKS</a:t>
            </a:r>
            <a:endParaRPr lang="en-US" sz="1200" dirty="0"/>
          </a:p>
        </p:txBody>
      </p:sp>
      <p:sp>
        <p:nvSpPr>
          <p:cNvPr id="3" name="Text 1"/>
          <p:cNvSpPr/>
          <p:nvPr>
            <p:ph type="title"/>
          </p:nvPr>
        </p:nvSpPr>
        <p:spPr>
          <a:xfrm>
            <a:off x="812731" y="1102280"/>
            <a:ext cx="10883447" cy="472415"/>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Un démarrage dans le bon ordre</a:t>
            </a:r>
            <a:endParaRPr lang="en-US" sz="3200" dirty="0"/>
          </a:p>
        </p:txBody>
      </p:sp>
      <p:sp>
        <p:nvSpPr>
          <p:cNvPr id="4" name="Shape 2"/>
          <p:cNvSpPr/>
          <p:nvPr/>
        </p:nvSpPr>
        <p:spPr>
          <a:xfrm>
            <a:off x="819081" y="2165344"/>
            <a:ext cx="2400276" cy="876287"/>
          </a:xfrm>
          <a:prstGeom prst="roundRect">
            <a:avLst>
              <a:gd name="adj" fmla="val 10870"/>
            </a:avLst>
          </a:prstGeom>
          <a:solidFill>
            <a:srgbClr val="FCE3CC"/>
          </a:solidFill>
          <a:ln w="12700">
            <a:solidFill>
              <a:srgbClr val="E8833A"/>
            </a:solidFill>
            <a:prstDash val="solid"/>
          </a:ln>
        </p:spPr>
      </p:sp>
      <p:sp>
        <p:nvSpPr>
          <p:cNvPr id="5" name="Text 3"/>
          <p:cNvSpPr/>
          <p:nvPr/>
        </p:nvSpPr>
        <p:spPr>
          <a:xfrm>
            <a:off x="1001588" y="2363415"/>
            <a:ext cx="2096319" cy="25399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1B2D"/>
                </a:solidFill>
                <a:latin typeface="IBM Plex Sans" pitchFamily="34" charset="0"/>
                <a:ea typeface="IBM Plex Sans" pitchFamily="34" charset="-122"/>
                <a:cs typeface="IBM Plex Sans" pitchFamily="34" charset="-120"/>
              </a:rPr>
              <a:t>db</a:t>
            </a:r>
            <a:endParaRPr lang="en-US" sz="1500" dirty="0"/>
          </a:p>
        </p:txBody>
      </p:sp>
      <p:sp>
        <p:nvSpPr>
          <p:cNvPr id="6" name="Text 4"/>
          <p:cNvSpPr/>
          <p:nvPr/>
        </p:nvSpPr>
        <p:spPr>
          <a:xfrm>
            <a:off x="1001588" y="2630094"/>
            <a:ext cx="2096319"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JetBrains Mono" pitchFamily="49" charset="0"/>
                <a:ea typeface="JetBrains Mono" pitchFamily="49" charset="-122"/>
                <a:cs typeface="JetBrains Mono" pitchFamily="49" charset="-120"/>
              </a:rPr>
              <a:t>pg_isready</a:t>
            </a:r>
            <a:endParaRPr lang="en-US" sz="1200" dirty="0"/>
          </a:p>
        </p:txBody>
      </p:sp>
      <p:sp>
        <p:nvSpPr>
          <p:cNvPr id="7" name="Shape 5"/>
          <p:cNvSpPr/>
          <p:nvPr/>
        </p:nvSpPr>
        <p:spPr>
          <a:xfrm>
            <a:off x="4190949" y="2158994"/>
            <a:ext cx="2793995" cy="888987"/>
          </a:xfrm>
          <a:prstGeom prst="roundRect">
            <a:avLst>
              <a:gd name="adj" fmla="val 11429"/>
            </a:avLst>
          </a:prstGeom>
          <a:solidFill>
            <a:srgbClr val="2F6FED"/>
          </a:solidFill>
          <a:ln/>
        </p:spPr>
      </p:sp>
      <p:sp>
        <p:nvSpPr>
          <p:cNvPr id="8" name="Text 6"/>
          <p:cNvSpPr/>
          <p:nvPr/>
        </p:nvSpPr>
        <p:spPr>
          <a:xfrm>
            <a:off x="4368677" y="2363415"/>
            <a:ext cx="2511696" cy="25399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7F9FC"/>
                </a:solidFill>
                <a:latin typeface="IBM Plex Sans" pitchFamily="34" charset="0"/>
                <a:ea typeface="IBM Plex Sans" pitchFamily="34" charset="-122"/>
                <a:cs typeface="IBM Plex Sans" pitchFamily="34" charset="-120"/>
              </a:rPr>
              <a:t>mattermost</a:t>
            </a:r>
            <a:endParaRPr lang="en-US" sz="1500" dirty="0"/>
          </a:p>
        </p:txBody>
      </p:sp>
      <p:sp>
        <p:nvSpPr>
          <p:cNvPr id="9" name="Text 7"/>
          <p:cNvSpPr/>
          <p:nvPr/>
        </p:nvSpPr>
        <p:spPr>
          <a:xfrm>
            <a:off x="4368677" y="2630094"/>
            <a:ext cx="2511696"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9FC"/>
                </a:solidFill>
                <a:latin typeface="JetBrains Mono" pitchFamily="49" charset="0"/>
                <a:ea typeface="JetBrains Mono" pitchFamily="49" charset="-122"/>
                <a:cs typeface="JetBrains Mono" pitchFamily="49" charset="-120"/>
              </a:rPr>
              <a:t>GET /api/v4/system/ping</a:t>
            </a:r>
            <a:endParaRPr lang="en-US" sz="1200" dirty="0"/>
          </a:p>
        </p:txBody>
      </p:sp>
      <p:sp>
        <p:nvSpPr>
          <p:cNvPr id="10" name="Shape 8"/>
          <p:cNvSpPr/>
          <p:nvPr/>
        </p:nvSpPr>
        <p:spPr>
          <a:xfrm>
            <a:off x="8210521" y="1847797"/>
            <a:ext cx="3162227" cy="749251"/>
          </a:xfrm>
          <a:prstGeom prst="roundRect">
            <a:avLst>
              <a:gd name="adj" fmla="val 12713"/>
            </a:avLst>
          </a:prstGeom>
          <a:solidFill>
            <a:srgbClr val="FDFDFC"/>
          </a:solidFill>
          <a:ln w="12700">
            <a:solidFill>
              <a:srgbClr val="C9D3E0"/>
            </a:solidFill>
            <a:prstDash val="solid"/>
          </a:ln>
        </p:spPr>
      </p:sp>
      <p:sp>
        <p:nvSpPr>
          <p:cNvPr id="11" name="Text 9"/>
          <p:cNvSpPr/>
          <p:nvPr/>
        </p:nvSpPr>
        <p:spPr>
          <a:xfrm>
            <a:off x="8393028" y="1982397"/>
            <a:ext cx="2881129" cy="25399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1B2D"/>
                </a:solidFill>
                <a:latin typeface="IBM Plex Sans" pitchFamily="34" charset="0"/>
                <a:ea typeface="IBM Plex Sans" pitchFamily="34" charset="-122"/>
                <a:cs typeface="IBM Plex Sans" pitchFamily="34" charset="-120"/>
              </a:rPr>
              <a:t>nginx</a:t>
            </a:r>
            <a:endParaRPr lang="en-US" sz="1500" dirty="0"/>
          </a:p>
        </p:txBody>
      </p:sp>
      <p:sp>
        <p:nvSpPr>
          <p:cNvPr id="12" name="Text 10"/>
          <p:cNvSpPr/>
          <p:nvPr/>
        </p:nvSpPr>
        <p:spPr>
          <a:xfrm>
            <a:off x="8393028" y="2249075"/>
            <a:ext cx="2881129"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JetBrains Mono" pitchFamily="49" charset="0"/>
                <a:ea typeface="JetBrains Mono" pitchFamily="49" charset="-122"/>
                <a:cs typeface="JetBrains Mono" pitchFamily="49" charset="-120"/>
              </a:rPr>
              <a:t>curl -f localhost:80</a:t>
            </a:r>
            <a:endParaRPr lang="en-US" sz="1200" dirty="0"/>
          </a:p>
        </p:txBody>
      </p:sp>
      <p:sp>
        <p:nvSpPr>
          <p:cNvPr id="13" name="Shape 11"/>
          <p:cNvSpPr/>
          <p:nvPr/>
        </p:nvSpPr>
        <p:spPr>
          <a:xfrm>
            <a:off x="8210521" y="2863822"/>
            <a:ext cx="3162227" cy="939761"/>
          </a:xfrm>
          <a:prstGeom prst="roundRect">
            <a:avLst>
              <a:gd name="adj" fmla="val 10136"/>
            </a:avLst>
          </a:prstGeom>
          <a:solidFill>
            <a:srgbClr val="FDFDFC"/>
          </a:solidFill>
          <a:ln w="12700">
            <a:solidFill>
              <a:srgbClr val="C9D3E0"/>
            </a:solidFill>
            <a:prstDash val="solid"/>
          </a:ln>
        </p:spPr>
      </p:sp>
      <p:sp>
        <p:nvSpPr>
          <p:cNvPr id="14" name="Text 12"/>
          <p:cNvSpPr/>
          <p:nvPr/>
        </p:nvSpPr>
        <p:spPr>
          <a:xfrm>
            <a:off x="8393028" y="2995547"/>
            <a:ext cx="2881129" cy="247994"/>
          </a:xfrm>
          <a:prstGeom prst="rect">
            <a:avLst/>
          </a:prstGeom>
          <a:noFill/>
          <a:ln/>
        </p:spPr>
        <p:txBody>
          <a:bodyPr wrap="square" lIns="0" tIns="0" rIns="0" bIns="0" rtlCol="0" anchor="t">
            <a:normAutofit/>
          </a:bodyPr>
          <a:lstStyle/>
          <a:p>
            <a:pPr algn="l" indent="0" marL="0">
              <a:lnSpc>
                <a:spcPts val="1772"/>
              </a:lnSpc>
              <a:buNone/>
            </a:pPr>
            <a:r>
              <a:rPr lang="en-US" sz="1477" b="1" dirty="0">
                <a:solidFill>
                  <a:srgbClr val="0F1B2D"/>
                </a:solidFill>
                <a:latin typeface="IBM Plex Sans" pitchFamily="34" charset="0"/>
                <a:ea typeface="IBM Plex Sans" pitchFamily="34" charset="-122"/>
                <a:cs typeface="IBM Plex Sans" pitchFamily="34" charset="-120"/>
              </a:rPr>
              <a:t>bridge</a:t>
            </a:r>
            <a:endParaRPr lang="en-US" sz="1477" dirty="0"/>
          </a:p>
        </p:txBody>
      </p:sp>
      <p:sp>
        <p:nvSpPr>
          <p:cNvPr id="15" name="Text 13"/>
          <p:cNvSpPr/>
          <p:nvPr/>
        </p:nvSpPr>
        <p:spPr>
          <a:xfrm>
            <a:off x="8393028" y="3256229"/>
            <a:ext cx="2881129" cy="441026"/>
          </a:xfrm>
          <a:prstGeom prst="rect">
            <a:avLst/>
          </a:prstGeom>
          <a:noFill/>
          <a:ln/>
        </p:spPr>
        <p:txBody>
          <a:bodyPr wrap="square" lIns="0" tIns="0" rIns="0" bIns="0" rtlCol="0" anchor="t">
            <a:normAutofit/>
          </a:bodyPr>
          <a:lstStyle/>
          <a:p>
            <a:pPr algn="l" indent="0" marL="0">
              <a:lnSpc>
                <a:spcPts val="1633"/>
              </a:lnSpc>
              <a:buNone/>
            </a:pPr>
            <a:r>
              <a:rPr lang="en-US" sz="1166" dirty="0">
                <a:solidFill>
                  <a:srgbClr val="46536A"/>
                </a:solidFill>
                <a:latin typeface="JetBrains Mono" pitchFamily="49" charset="0"/>
                <a:ea typeface="JetBrains Mono" pitchFamily="49" charset="-122"/>
                <a:cs typeface="JetBrains Mono" pitchFamily="49" charset="-120"/>
              </a:rPr>
              <a:t>GET /health → 503 si une connexion est coupée</a:t>
            </a:r>
            <a:endParaRPr lang="en-US" sz="1166" dirty="0"/>
          </a:p>
        </p:txBody>
      </p:sp>
      <p:pic>
        <p:nvPicPr>
          <p:cNvPr id="16" name="Image 0" descr="connector">    </p:cNvPr>
          <p:cNvPicPr>
            <a:picLocks noChangeAspect="1"/>
          </p:cNvPicPr>
          <p:nvPr/>
        </p:nvPicPr>
        <p:blipFill>
          <a:blip r:embed="rId1"/>
          <a:srcRect l="-16" r="-16" t="0" b="0"/>
          <a:stretch/>
        </p:blipFill>
        <p:spPr>
          <a:xfrm>
            <a:off x="3174927" y="2552619"/>
            <a:ext cx="1066714" cy="101559"/>
          </a:xfrm>
          <a:prstGeom prst="rect">
            <a:avLst/>
          </a:prstGeom>
        </p:spPr>
      </p:pic>
      <p:sp>
        <p:nvSpPr>
          <p:cNvPr id="17" name="Text 14"/>
          <p:cNvSpPr/>
          <p:nvPr/>
        </p:nvSpPr>
        <p:spPr>
          <a:xfrm>
            <a:off x="3238478" y="2285941"/>
            <a:ext cx="939787" cy="238778"/>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2F6FED"/>
                </a:solidFill>
                <a:latin typeface="JetBrains Mono" pitchFamily="49" charset="0"/>
                <a:ea typeface="JetBrains Mono" pitchFamily="49" charset="-122"/>
                <a:cs typeface="JetBrains Mono" pitchFamily="49" charset="-120"/>
              </a:rPr>
              <a:t>healthy</a:t>
            </a:r>
            <a:endParaRPr lang="en-US" sz="1200" dirty="0"/>
          </a:p>
        </p:txBody>
      </p:sp>
      <p:pic>
        <p:nvPicPr>
          <p:cNvPr id="18" name="Image 1" descr="connector">    </p:cNvPr>
          <p:cNvPicPr>
            <a:picLocks noChangeAspect="1"/>
          </p:cNvPicPr>
          <p:nvPr/>
        </p:nvPicPr>
        <p:blipFill>
          <a:blip r:embed="rId2"/>
          <a:srcRect l="-2" r="-2" t="0" b="0"/>
          <a:stretch/>
        </p:blipFill>
        <p:spPr>
          <a:xfrm>
            <a:off x="6934164" y="2171688"/>
            <a:ext cx="1320785" cy="482578"/>
          </a:xfrm>
          <a:prstGeom prst="rect">
            <a:avLst/>
          </a:prstGeom>
        </p:spPr>
      </p:pic>
      <p:pic>
        <p:nvPicPr>
          <p:cNvPr id="19" name="Image 2" descr="connector">    </p:cNvPr>
          <p:cNvPicPr>
            <a:picLocks noChangeAspect="1"/>
          </p:cNvPicPr>
          <p:nvPr/>
        </p:nvPicPr>
        <p:blipFill>
          <a:blip r:embed="rId3"/>
          <a:srcRect l="-4" r="-4" t="0" b="0"/>
          <a:stretch/>
        </p:blipFill>
        <p:spPr>
          <a:xfrm>
            <a:off x="6934164" y="2552619"/>
            <a:ext cx="1320785" cy="831773"/>
          </a:xfrm>
          <a:prstGeom prst="rect">
            <a:avLst/>
          </a:prstGeom>
        </p:spPr>
      </p:pic>
      <p:sp>
        <p:nvSpPr>
          <p:cNvPr id="20" name="Text 15"/>
          <p:cNvSpPr/>
          <p:nvPr/>
        </p:nvSpPr>
        <p:spPr>
          <a:xfrm>
            <a:off x="812731" y="4190950"/>
            <a:ext cx="4444933" cy="1041238"/>
          </a:xfrm>
          <a:prstGeom prst="roundRect">
            <a:avLst>
              <a:gd name="adj" fmla="val 9758"/>
            </a:avLst>
          </a:prstGeom>
          <a:solidFill>
            <a:srgbClr val="0F1B2D"/>
          </a:solidFill>
          <a:ln/>
        </p:spPr>
        <p:txBody>
          <a:bodyPr wrap="square" lIns="198836" tIns="148042" rIns="79204" bIns="122498" rtlCol="0" anchor="t">
            <a:normAutofit/>
          </a:bodyPr>
          <a:lstStyle/>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depends_on:</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  db:</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    condition: </a:t>
            </a:r>
            <a:r>
              <a:rPr lang="en-US" sz="1200" dirty="0">
                <a:solidFill>
                  <a:srgbClr val="7FA8FF"/>
                </a:solidFill>
                <a:latin typeface="JetBrains Mono" pitchFamily="49" charset="0"/>
                <a:ea typeface="JetBrains Mono" pitchFamily="49" charset="-122"/>
                <a:cs typeface="JetBrains Mono" pitchFamily="49" charset="-120"/>
              </a:rPr>
              <a:t>service_healthy</a:t>
            </a:r>
            <a:endParaRPr lang="en-US" sz="1200" dirty="0"/>
          </a:p>
        </p:txBody>
      </p:sp>
      <p:sp>
        <p:nvSpPr>
          <p:cNvPr id="21" name="Text 16"/>
          <p:cNvSpPr/>
          <p:nvPr/>
        </p:nvSpPr>
        <p:spPr>
          <a:xfrm>
            <a:off x="5714938" y="4190950"/>
            <a:ext cx="5834084" cy="292079"/>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Un conteneur démarré n’est pas un conteneur prêt.</a:t>
            </a:r>
            <a:endParaRPr lang="en-US" sz="1500" dirty="0"/>
          </a:p>
        </p:txBody>
      </p:sp>
      <p:sp>
        <p:nvSpPr>
          <p:cNvPr id="22" name="Text 17"/>
          <p:cNvSpPr/>
          <p:nvPr/>
        </p:nvSpPr>
        <p:spPr>
          <a:xfrm>
            <a:off x="5714938" y="4559188"/>
            <a:ext cx="5834084" cy="558757"/>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36A"/>
                </a:solidFill>
                <a:latin typeface="IBM Plex Sans" pitchFamily="34" charset="0"/>
                <a:ea typeface="IBM Plex Sans" pitchFamily="34" charset="-122"/>
                <a:cs typeface="IBM Plex Sans" pitchFamily="34" charset="-120"/>
              </a:rPr>
              <a:t>Chaque service attend que ses dépendances soient healthy, et docker compose ps montre l’état réel.</a:t>
            </a:r>
            <a:endParaRPr lang="en-US" sz="1500" dirty="0"/>
          </a:p>
        </p:txBody>
      </p:sp>
      <p:sp>
        <p:nvSpPr>
          <p:cNvPr id="23" name="Text 18"/>
          <p:cNvSpPr/>
          <p:nvPr/>
        </p:nvSpPr>
        <p:spPr>
          <a:xfrm>
            <a:off x="812731" y="6235688"/>
            <a:ext cx="2760554" cy="24129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9"/>
                </a:solidFill>
                <a:latin typeface="IBM Plex Sans" pitchFamily="34" charset="0"/>
                <a:ea typeface="IBM Plex Sans" pitchFamily="34" charset="-122"/>
                <a:cs typeface="IBM Plex Sans" pitchFamily="34" charset="-120"/>
              </a:rPr>
              <a:t>IM Bridge · Mattermost ⇄ Discord</a:t>
            </a:r>
            <a:endParaRPr lang="en-US" sz="1200" dirty="0"/>
          </a:p>
        </p:txBody>
      </p:sp>
      <p:sp>
        <p:nvSpPr>
          <p:cNvPr id="24" name="Text 19"/>
          <p:cNvSpPr/>
          <p:nvPr/>
        </p:nvSpPr>
        <p:spPr>
          <a:xfrm>
            <a:off x="10893598" y="6235688"/>
            <a:ext cx="485499" cy="24129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9"/>
                </a:solidFill>
                <a:latin typeface="IBM Plex Sans" pitchFamily="34" charset="0"/>
                <a:ea typeface="IBM Plex Sans" pitchFamily="34" charset="-122"/>
                <a:cs typeface="IBM Plex Sans" pitchFamily="34" charset="-120"/>
              </a:rPr>
              <a:t>7 / 14</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731" y="812732"/>
            <a:ext cx="10883447" cy="238778"/>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F6FED"/>
                </a:solidFill>
                <a:latin typeface="JetBrains Mono" pitchFamily="49" charset="0"/>
                <a:ea typeface="JetBrains Mono" pitchFamily="49" charset="-122"/>
                <a:cs typeface="JetBrains Mono" pitchFamily="49" charset="-120"/>
              </a:rPr>
              <a:t>IMAGES DOCKER</a:t>
            </a:r>
            <a:endParaRPr lang="en-US" sz="1200" dirty="0"/>
          </a:p>
        </p:txBody>
      </p:sp>
      <p:sp>
        <p:nvSpPr>
          <p:cNvPr id="3" name="Text 1"/>
          <p:cNvSpPr/>
          <p:nvPr>
            <p:ph type="title"/>
          </p:nvPr>
        </p:nvSpPr>
        <p:spPr>
          <a:xfrm>
            <a:off x="812731" y="1102277"/>
            <a:ext cx="10883447" cy="472415"/>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Une image sur mesure par service</a:t>
            </a:r>
            <a:endParaRPr lang="en-US" sz="3200" dirty="0"/>
          </a:p>
        </p:txBody>
      </p:sp>
      <p:sp>
        <p:nvSpPr>
          <p:cNvPr id="4" name="Shape 2"/>
          <p:cNvSpPr/>
          <p:nvPr/>
        </p:nvSpPr>
        <p:spPr>
          <a:xfrm>
            <a:off x="819081" y="1860404"/>
            <a:ext cx="4559268" cy="791770"/>
          </a:xfrm>
          <a:prstGeom prst="roundRect">
            <a:avLst>
              <a:gd name="adj" fmla="val 12030"/>
            </a:avLst>
          </a:prstGeom>
          <a:solidFill>
            <a:srgbClr val="FDFDFC"/>
          </a:solidFill>
          <a:ln w="12700">
            <a:solidFill>
              <a:srgbClr val="C9D3E0"/>
            </a:solidFill>
            <a:prstDash val="solid"/>
          </a:ln>
        </p:spPr>
      </p:sp>
      <p:sp>
        <p:nvSpPr>
          <p:cNvPr id="5" name="Text 3"/>
          <p:cNvSpPr/>
          <p:nvPr/>
        </p:nvSpPr>
        <p:spPr>
          <a:xfrm>
            <a:off x="1026978" y="2017523"/>
            <a:ext cx="4267778" cy="23877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ED"/>
                </a:solidFill>
                <a:latin typeface="JetBrains Mono" pitchFamily="49" charset="0"/>
                <a:ea typeface="JetBrains Mono" pitchFamily="49" charset="-122"/>
                <a:cs typeface="JetBrains Mono" pitchFamily="49" charset="-120"/>
              </a:rPr>
              <a:t>STAGE builder · node:24-alpine</a:t>
            </a:r>
            <a:endParaRPr lang="en-US" sz="1200" dirty="0"/>
          </a:p>
        </p:txBody>
      </p:sp>
      <p:sp>
        <p:nvSpPr>
          <p:cNvPr id="6" name="Text 4"/>
          <p:cNvSpPr/>
          <p:nvPr/>
        </p:nvSpPr>
        <p:spPr>
          <a:xfrm>
            <a:off x="1026978" y="2281681"/>
            <a:ext cx="4267778"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F1B2D"/>
                </a:solidFill>
                <a:latin typeface="JetBrains Mono" pitchFamily="49" charset="0"/>
                <a:ea typeface="JetBrains Mono" pitchFamily="49" charset="-122"/>
                <a:cs typeface="JetBrains Mono" pitchFamily="49" charset="-120"/>
              </a:rPr>
              <a:t>npm ci → tsc → build-emoji → npm prune</a:t>
            </a:r>
            <a:endParaRPr lang="en-US" sz="1200" dirty="0"/>
          </a:p>
        </p:txBody>
      </p:sp>
      <p:pic>
        <p:nvPicPr>
          <p:cNvPr id="7" name="Image 0" descr="arrow-down">    </p:cNvPr>
          <p:cNvPicPr>
            <a:picLocks noChangeAspect="1"/>
          </p:cNvPicPr>
          <p:nvPr/>
        </p:nvPicPr>
        <p:blipFill>
          <a:blip r:embed="rId1"/>
          <a:srcRect l="0" r="0" t="-3" b="-3"/>
          <a:stretch/>
        </p:blipFill>
        <p:spPr>
          <a:xfrm>
            <a:off x="2027001" y="2785473"/>
            <a:ext cx="279373" cy="457188"/>
          </a:xfrm>
          <a:prstGeom prst="rect">
            <a:avLst/>
          </a:prstGeom>
        </p:spPr>
      </p:pic>
      <p:sp>
        <p:nvSpPr>
          <p:cNvPr id="8" name="Text 5"/>
          <p:cNvSpPr/>
          <p:nvPr/>
        </p:nvSpPr>
        <p:spPr>
          <a:xfrm>
            <a:off x="2433322" y="2907379"/>
            <a:ext cx="2084423"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JetBrains Mono" pitchFamily="49" charset="0"/>
                <a:ea typeface="JetBrains Mono" pitchFamily="49" charset="-122"/>
                <a:cs typeface="JetBrains Mono" pitchFamily="49" charset="-120"/>
              </a:rPr>
              <a:t>COPY --from=builder</a:t>
            </a:r>
            <a:endParaRPr lang="en-US" sz="1200" dirty="0"/>
          </a:p>
        </p:txBody>
      </p:sp>
      <p:sp>
        <p:nvSpPr>
          <p:cNvPr id="9" name="Shape 6"/>
          <p:cNvSpPr/>
          <p:nvPr/>
        </p:nvSpPr>
        <p:spPr>
          <a:xfrm>
            <a:off x="812731" y="3369611"/>
            <a:ext cx="4571968" cy="995588"/>
          </a:xfrm>
          <a:prstGeom prst="roundRect">
            <a:avLst>
              <a:gd name="adj" fmla="val 10205"/>
            </a:avLst>
          </a:prstGeom>
          <a:solidFill>
            <a:srgbClr val="0F1B2D"/>
          </a:solidFill>
          <a:ln/>
        </p:spPr>
      </p:sp>
      <p:sp>
        <p:nvSpPr>
          <p:cNvPr id="10" name="Text 7"/>
          <p:cNvSpPr/>
          <p:nvPr/>
        </p:nvSpPr>
        <p:spPr>
          <a:xfrm>
            <a:off x="1015848" y="3521949"/>
            <a:ext cx="4290705" cy="23877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FA8FF"/>
                </a:solidFill>
                <a:latin typeface="JetBrains Mono" pitchFamily="49" charset="0"/>
                <a:ea typeface="JetBrains Mono" pitchFamily="49" charset="-122"/>
                <a:cs typeface="JetBrains Mono" pitchFamily="49" charset="-120"/>
              </a:rPr>
              <a:t>IMAGE FINALE · node:24-alpine</a:t>
            </a:r>
            <a:endParaRPr lang="en-US" sz="1200" dirty="0"/>
          </a:p>
        </p:txBody>
      </p:sp>
      <p:sp>
        <p:nvSpPr>
          <p:cNvPr id="11" name="Text 8"/>
          <p:cNvSpPr/>
          <p:nvPr/>
        </p:nvSpPr>
        <p:spPr>
          <a:xfrm>
            <a:off x="1015848" y="3786107"/>
            <a:ext cx="4290705" cy="4521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7FA"/>
                </a:solidFill>
                <a:latin typeface="IBM Plex Sans" pitchFamily="34" charset="0"/>
                <a:ea typeface="IBM Plex Sans" pitchFamily="34" charset="-122"/>
                <a:cs typeface="IBM Plex Sans" pitchFamily="34" charset="-120"/>
              </a:rPr>
              <a:t>dist/ + node_modules de production · USER node · HEALTHCHECK</a:t>
            </a:r>
            <a:endParaRPr lang="en-US" sz="1200" dirty="0"/>
          </a:p>
        </p:txBody>
      </p:sp>
      <p:sp>
        <p:nvSpPr>
          <p:cNvPr id="12" name="Text 9"/>
          <p:cNvSpPr/>
          <p:nvPr/>
        </p:nvSpPr>
        <p:spPr>
          <a:xfrm>
            <a:off x="812731" y="4492148"/>
            <a:ext cx="4709127" cy="4521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IBM Plex Sans" pitchFamily="34" charset="0"/>
                <a:ea typeface="IBM Plex Sans" pitchFamily="34" charset="-122"/>
                <a:cs typeface="IBM Plex Sans" pitchFamily="34" charset="-120"/>
              </a:rPr>
              <a:t>Ni compilateur, ni sources, ni dépendances de dev : une image plus légère et moins de surface d’attaque.</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751371" y="1865184"/>
          <a:ext cx="5627814" cy="2200033"/>
        </p:xfrm>
        <a:graphic>
          <a:graphicData uri="http://schemas.openxmlformats.org/drawingml/2006/table">
            <a:tbl>
              <a:tblPr/>
              <a:tblGrid>
                <a:gridCol w="1575788"/>
                <a:gridCol w="4052026"/>
              </a:tblGrid>
              <a:tr h="331109">
                <a:tc>
                  <a:txBody>
                    <a:bodyPr/>
                    <a:lstStyle/>
                    <a:p>
                      <a:pPr indent="0" marL="0">
                        <a:lnSpc>
                          <a:spcPts val="1680"/>
                        </a:lnSpc>
                        <a:buNone/>
                      </a:pPr>
                      <a:r>
                        <a:rPr lang="en-US" sz="1200" b="1" dirty="0">
                          <a:solidFill>
                            <a:srgbClr val="0F1B2D"/>
                          </a:solidFill>
                          <a:latin typeface="IBM Plex Sans" pitchFamily="34" charset="0"/>
                          <a:ea typeface="IBM Plex Sans" pitchFamily="34" charset="-122"/>
                          <a:cs typeface="IBM Plex Sans" pitchFamily="34" charset="-120"/>
                        </a:rPr>
                        <a:t>Service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3E5E8"/>
                    </a:solidFill>
                  </a:tcPr>
                </a:tc>
                <a:tc>
                  <a:txBody>
                    <a:bodyPr/>
                    <a:lstStyle/>
                    <a:p>
                      <a:pPr indent="0" marL="0">
                        <a:lnSpc>
                          <a:spcPts val="1680"/>
                        </a:lnSpc>
                        <a:buNone/>
                      </a:pPr>
                      <a:r>
                        <a:rPr lang="en-US" sz="1200" b="1" dirty="0">
                          <a:solidFill>
                            <a:srgbClr val="0F1B2D"/>
                          </a:solidFill>
                          <a:latin typeface="IBM Plex Sans" pitchFamily="34" charset="0"/>
                          <a:ea typeface="IBM Plex Sans" pitchFamily="34" charset="-122"/>
                          <a:cs typeface="IBM Plex Sans" pitchFamily="34" charset="-120"/>
                        </a:rPr>
                        <a:t>Ce qui change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7B9"/>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3E5E8"/>
                    </a:solidFill>
                  </a:tcPr>
                </a:tc>
              </a:tr>
              <a:tr h="331109">
                <a:tc>
                  <a:txBody>
                    <a:bodyPr/>
                    <a:lstStyle/>
                    <a:p>
                      <a:pP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db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Healthcheck pg_isready intégré</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r>
              <a:tr h="331109">
                <a:tc>
                  <a:txBody>
                    <a:bodyPr/>
                    <a:lstStyle/>
                    <a:p>
                      <a:pP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mattermost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Version en build arg, healthcheck, non-root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r>
              <a:tr h="331109">
                <a:tc>
                  <a:txBody>
                    <a:bodyPr/>
                    <a:lstStyle/>
                    <a:p>
                      <a:pP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nginx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Configuration intégrée, version masquée, 50 Mo max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r>
              <a:tr h="331109">
                <a:tc>
                  <a:txBody>
                    <a:bodyPr/>
                    <a:lstStyle/>
                    <a:p>
                      <a:pP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bridge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Build multi-stage, USER node, healthcheck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r>
              <a:tr h="544487">
                <a:tc>
                  <a:txBody>
                    <a:bodyPr/>
                    <a:lstStyle/>
                    <a:p>
                      <a:pP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status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Image scratch : /data préparé dans un stage Alpine pour tourner en nobody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r>
            </a:tbl>
          </a:graphicData>
        </a:graphic>
      </p:graphicFrame>
      <p:sp>
        <p:nvSpPr>
          <p:cNvPr id="14" name="Text 10"/>
          <p:cNvSpPr/>
          <p:nvPr/>
        </p:nvSpPr>
        <p:spPr>
          <a:xfrm>
            <a:off x="812731" y="6235688"/>
            <a:ext cx="2760554" cy="24129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9"/>
                </a:solidFill>
                <a:latin typeface="IBM Plex Sans" pitchFamily="34" charset="0"/>
                <a:ea typeface="IBM Plex Sans" pitchFamily="34" charset="-122"/>
                <a:cs typeface="IBM Plex Sans" pitchFamily="34" charset="-120"/>
              </a:rPr>
              <a:t>IM Bridge · Mattermost ⇄ Discord</a:t>
            </a:r>
            <a:endParaRPr lang="en-US" sz="1200" dirty="0"/>
          </a:p>
        </p:txBody>
      </p:sp>
      <p:sp>
        <p:nvSpPr>
          <p:cNvPr id="15" name="Text 11"/>
          <p:cNvSpPr/>
          <p:nvPr/>
        </p:nvSpPr>
        <p:spPr>
          <a:xfrm>
            <a:off x="10893598" y="6235688"/>
            <a:ext cx="485499" cy="24129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9"/>
                </a:solidFill>
                <a:latin typeface="IBM Plex Sans" pitchFamily="34" charset="0"/>
                <a:ea typeface="IBM Plex Sans" pitchFamily="34" charset="-122"/>
                <a:cs typeface="IBM Plex Sans" pitchFamily="34" charset="-120"/>
              </a:rPr>
              <a:t>8 / 14</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731" y="812732"/>
            <a:ext cx="10883447" cy="238778"/>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F6FED"/>
                </a:solidFill>
                <a:latin typeface="JetBrains Mono" pitchFamily="49" charset="0"/>
                <a:ea typeface="JetBrains Mono" pitchFamily="49" charset="-122"/>
                <a:cs typeface="JetBrains Mono" pitchFamily="49" charset="-120"/>
              </a:rPr>
              <a:t>SÉCURITÉ</a:t>
            </a:r>
            <a:endParaRPr lang="en-US" sz="1200" dirty="0"/>
          </a:p>
        </p:txBody>
      </p:sp>
      <p:sp>
        <p:nvSpPr>
          <p:cNvPr id="3" name="Text 1"/>
          <p:cNvSpPr/>
          <p:nvPr>
            <p:ph type="title"/>
          </p:nvPr>
        </p:nvSpPr>
        <p:spPr>
          <a:xfrm>
            <a:off x="812731" y="1102277"/>
            <a:ext cx="10883447" cy="472415"/>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Défense en profondeur</a:t>
            </a:r>
            <a:endParaRPr lang="en-US" sz="3200" dirty="0"/>
          </a:p>
        </p:txBody>
      </p:sp>
      <p:sp>
        <p:nvSpPr>
          <p:cNvPr id="4" name="Shape 2"/>
          <p:cNvSpPr/>
          <p:nvPr/>
        </p:nvSpPr>
        <p:spPr>
          <a:xfrm>
            <a:off x="819081" y="1860407"/>
            <a:ext cx="2514616" cy="2295152"/>
          </a:xfrm>
          <a:prstGeom prst="roundRect">
            <a:avLst>
              <a:gd name="adj" fmla="val 4703"/>
            </a:avLst>
          </a:prstGeom>
          <a:solidFill>
            <a:srgbClr val="FDFDFC"/>
          </a:solidFill>
          <a:ln w="12700">
            <a:solidFill>
              <a:srgbClr val="DCE2EA"/>
            </a:solidFill>
            <a:prstDash val="solid"/>
          </a:ln>
        </p:spPr>
      </p:sp>
      <p:pic>
        <p:nvPicPr>
          <p:cNvPr id="5" name="Image 0" descr="Globe">    </p:cNvPr>
          <p:cNvPicPr>
            <a:picLocks noChangeAspect="1"/>
          </p:cNvPicPr>
          <p:nvPr/>
        </p:nvPicPr>
        <p:blipFill>
          <a:blip r:embed="rId1"/>
          <a:srcRect l="0" r="0" t="0" b="0"/>
          <a:stretch/>
        </p:blipFill>
        <p:spPr>
          <a:xfrm>
            <a:off x="1026978" y="2068302"/>
            <a:ext cx="304763" cy="304763"/>
          </a:xfrm>
          <a:prstGeom prst="rect">
            <a:avLst/>
          </a:prstGeom>
        </p:spPr>
      </p:pic>
      <p:sp>
        <p:nvSpPr>
          <p:cNvPr id="6" name="Text 3"/>
          <p:cNvSpPr/>
          <p:nvPr/>
        </p:nvSpPr>
        <p:spPr>
          <a:xfrm>
            <a:off x="1026978" y="2474627"/>
            <a:ext cx="2161787" cy="330163"/>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Réseau</a:t>
            </a:r>
            <a:endParaRPr lang="en-US" sz="2000" dirty="0"/>
          </a:p>
        </p:txBody>
      </p:sp>
      <p:sp>
        <p:nvSpPr>
          <p:cNvPr id="7" name="Text 4"/>
          <p:cNvSpPr/>
          <p:nvPr/>
        </p:nvSpPr>
        <p:spPr>
          <a:xfrm>
            <a:off x="1098098" y="2880947"/>
            <a:ext cx="2083047" cy="1092114"/>
          </a:xfrm>
          <a:prstGeom prst="rect">
            <a:avLst/>
          </a:prstGeom>
          <a:noFill/>
          <a:ln/>
        </p:spPr>
        <p:txBody>
          <a:bodyPr wrap="square" lIns="0" tIns="0" rIns="0" bIns="0" rtlCol="0" anchor="t">
            <a:normAutofit/>
          </a:bodyPr>
          <a:lstStyle/>
          <a:p>
            <a:pPr algn="l" marL="182880" indent="-182880">
              <a:lnSpc>
                <a:spcPts val="2100"/>
              </a:lnSpc>
              <a:buSzPct val="100000"/>
              <a:buChar char="•"/>
            </a:pPr>
            <a:r>
              <a:rPr lang="en-US" sz="1500" dirty="0">
                <a:solidFill>
                  <a:srgbClr val="46536A"/>
                </a:solidFill>
                <a:latin typeface="IBM Plex Sans" pitchFamily="34" charset="0"/>
                <a:ea typeface="IBM Plex Sans" pitchFamily="34" charset="-122"/>
                <a:cs typeface="IBM Plex Sans" pitchFamily="34" charset="-120"/>
              </a:rPr>
              <a:t>1 seul port publié</a:t>
            </a:r>
            <a:endParaRPr lang="en-US" sz="1500" dirty="0"/>
          </a:p>
          <a:p>
            <a:pPr algn="l" marL="182880" indent="-182880">
              <a:lnSpc>
                <a:spcPts val="2100"/>
              </a:lnSpc>
              <a:buSzPct val="100000"/>
              <a:buChar char="•"/>
            </a:pPr>
            <a:r>
              <a:rPr lang="en-US" sz="1500" dirty="0">
                <a:solidFill>
                  <a:srgbClr val="46536A"/>
                </a:solidFill>
                <a:latin typeface="IBM Plex Sans" pitchFamily="34" charset="0"/>
                <a:ea typeface="IBM Plex Sans" pitchFamily="34" charset="-122"/>
                <a:cs typeface="IBM Plex Sans" pitchFamily="34" charset="-120"/>
              </a:rPr>
              <a:t>backend internal</a:t>
            </a:r>
            <a:endParaRPr lang="en-US" sz="1500" dirty="0"/>
          </a:p>
          <a:p>
            <a:pPr algn="l" marL="182880" indent="-182880">
              <a:lnSpc>
                <a:spcPts val="2100"/>
              </a:lnSpc>
              <a:buSzPct val="100000"/>
              <a:buChar char="•"/>
            </a:pPr>
            <a:r>
              <a:rPr lang="en-US" sz="1500" dirty="0">
                <a:solidFill>
                  <a:srgbClr val="46536A"/>
                </a:solidFill>
                <a:latin typeface="IBM Plex Sans" pitchFamily="34" charset="0"/>
                <a:ea typeface="IBM Plex Sans" pitchFamily="34" charset="-122"/>
                <a:cs typeface="IBM Plex Sans" pitchFamily="34" charset="-120"/>
              </a:rPr>
              <a:t>bot Mattermost dédié</a:t>
            </a:r>
            <a:endParaRPr lang="en-US" sz="1500" dirty="0"/>
          </a:p>
        </p:txBody>
      </p:sp>
      <p:sp>
        <p:nvSpPr>
          <p:cNvPr id="8" name="Shape 5"/>
          <p:cNvSpPr/>
          <p:nvPr/>
        </p:nvSpPr>
        <p:spPr>
          <a:xfrm>
            <a:off x="3498735" y="1860407"/>
            <a:ext cx="2514703" cy="2295152"/>
          </a:xfrm>
          <a:prstGeom prst="roundRect">
            <a:avLst>
              <a:gd name="adj" fmla="val 4703"/>
            </a:avLst>
          </a:prstGeom>
          <a:solidFill>
            <a:srgbClr val="FDFDFC"/>
          </a:solidFill>
          <a:ln w="12700">
            <a:solidFill>
              <a:srgbClr val="DCE2EA"/>
            </a:solidFill>
            <a:prstDash val="solid"/>
          </a:ln>
        </p:spPr>
      </p:sp>
      <p:pic>
        <p:nvPicPr>
          <p:cNvPr id="9" name="Image 1" descr="Lock">    </p:cNvPr>
          <p:cNvPicPr>
            <a:picLocks noChangeAspect="1"/>
          </p:cNvPicPr>
          <p:nvPr/>
        </p:nvPicPr>
        <p:blipFill>
          <a:blip r:embed="rId2"/>
          <a:srcRect l="0" r="0" t="0" b="0"/>
          <a:stretch/>
        </p:blipFill>
        <p:spPr>
          <a:xfrm>
            <a:off x="3706632" y="2068302"/>
            <a:ext cx="304763" cy="304763"/>
          </a:xfrm>
          <a:prstGeom prst="rect">
            <a:avLst/>
          </a:prstGeom>
        </p:spPr>
      </p:pic>
      <p:sp>
        <p:nvSpPr>
          <p:cNvPr id="10" name="Text 6"/>
          <p:cNvSpPr/>
          <p:nvPr/>
        </p:nvSpPr>
        <p:spPr>
          <a:xfrm>
            <a:off x="3706632" y="2474627"/>
            <a:ext cx="2161876" cy="330163"/>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Conteneurs</a:t>
            </a:r>
            <a:endParaRPr lang="en-US" sz="2000" dirty="0"/>
          </a:p>
        </p:txBody>
      </p:sp>
      <p:sp>
        <p:nvSpPr>
          <p:cNvPr id="11" name="Text 7"/>
          <p:cNvSpPr/>
          <p:nvPr/>
        </p:nvSpPr>
        <p:spPr>
          <a:xfrm>
            <a:off x="3777752" y="2880947"/>
            <a:ext cx="2083136" cy="1092114"/>
          </a:xfrm>
          <a:prstGeom prst="rect">
            <a:avLst/>
          </a:prstGeom>
          <a:noFill/>
          <a:ln/>
        </p:spPr>
        <p:txBody>
          <a:bodyPr wrap="square" lIns="0" tIns="0" rIns="0" bIns="0" rtlCol="0" anchor="t">
            <a:normAutofit/>
          </a:bodyPr>
          <a:lstStyle/>
          <a:p>
            <a:pPr algn="l" marL="182880" indent="-182880">
              <a:lnSpc>
                <a:spcPts val="2100"/>
              </a:lnSpc>
              <a:buSzPct val="100000"/>
              <a:buChar char="•"/>
            </a:pPr>
            <a:r>
              <a:rPr lang="en-US" sz="1500" dirty="0">
                <a:solidFill>
                  <a:srgbClr val="46536A"/>
                </a:solidFill>
                <a:latin typeface="IBM Plex Sans" pitchFamily="34" charset="0"/>
                <a:ea typeface="IBM Plex Sans" pitchFamily="34" charset="-122"/>
                <a:cs typeface="IBM Plex Sans" pitchFamily="34" charset="-120"/>
              </a:rPr>
              <a:t>cap_drop: ALL</a:t>
            </a:r>
            <a:endParaRPr lang="en-US" sz="1500" dirty="0"/>
          </a:p>
          <a:p>
            <a:pPr algn="l" marL="182880" indent="-182880">
              <a:lnSpc>
                <a:spcPts val="2100"/>
              </a:lnSpc>
              <a:buSzPct val="100000"/>
              <a:buChar char="•"/>
            </a:pPr>
            <a:r>
              <a:rPr lang="en-US" sz="1500" dirty="0">
                <a:solidFill>
                  <a:srgbClr val="46536A"/>
                </a:solidFill>
                <a:latin typeface="IBM Plex Sans" pitchFamily="34" charset="0"/>
                <a:ea typeface="IBM Plex Sans" pitchFamily="34" charset="-122"/>
                <a:cs typeface="IBM Plex Sans" pitchFamily="34" charset="-120"/>
              </a:rPr>
              <a:t>no-new-privileges</a:t>
            </a:r>
            <a:endParaRPr lang="en-US" sz="1500" dirty="0"/>
          </a:p>
          <a:p>
            <a:pPr algn="l" marL="182880" indent="-182880">
              <a:lnSpc>
                <a:spcPts val="2100"/>
              </a:lnSpc>
              <a:buSzPct val="100000"/>
              <a:buChar char="•"/>
            </a:pPr>
            <a:r>
              <a:rPr lang="en-US" sz="1500" dirty="0">
                <a:solidFill>
                  <a:srgbClr val="46536A"/>
                </a:solidFill>
                <a:latin typeface="IBM Plex Sans" pitchFamily="34" charset="0"/>
                <a:ea typeface="IBM Plex Sans" pitchFamily="34" charset="-122"/>
                <a:cs typeface="IBM Plex Sans" pitchFamily="34" charset="-120"/>
              </a:rPr>
              <a:t>read_only + tmpfs</a:t>
            </a:r>
            <a:endParaRPr lang="en-US" sz="1500" dirty="0"/>
          </a:p>
          <a:p>
            <a:pPr algn="l" marL="182880" indent="-182880">
              <a:lnSpc>
                <a:spcPts val="2100"/>
              </a:lnSpc>
              <a:buSzPct val="100000"/>
              <a:buChar char="•"/>
            </a:pPr>
            <a:r>
              <a:rPr lang="en-US" sz="1500" dirty="0">
                <a:solidFill>
                  <a:srgbClr val="46536A"/>
                </a:solidFill>
                <a:latin typeface="IBM Plex Sans" pitchFamily="34" charset="0"/>
                <a:ea typeface="IBM Plex Sans" pitchFamily="34" charset="-122"/>
                <a:cs typeface="IBM Plex Sans" pitchFamily="34" charset="-120"/>
              </a:rPr>
              <a:t>non-root partout</a:t>
            </a:r>
            <a:endParaRPr lang="en-US" sz="1500" dirty="0"/>
          </a:p>
        </p:txBody>
      </p:sp>
      <p:sp>
        <p:nvSpPr>
          <p:cNvPr id="12" name="Shape 8"/>
          <p:cNvSpPr/>
          <p:nvPr/>
        </p:nvSpPr>
        <p:spPr>
          <a:xfrm>
            <a:off x="6178476" y="1860407"/>
            <a:ext cx="2514616" cy="2295152"/>
          </a:xfrm>
          <a:prstGeom prst="roundRect">
            <a:avLst>
              <a:gd name="adj" fmla="val 4703"/>
            </a:avLst>
          </a:prstGeom>
          <a:solidFill>
            <a:srgbClr val="FDFDFC"/>
          </a:solidFill>
          <a:ln w="12700">
            <a:solidFill>
              <a:srgbClr val="DCE2EA"/>
            </a:solidFill>
            <a:prstDash val="solid"/>
          </a:ln>
        </p:spPr>
      </p:sp>
      <p:pic>
        <p:nvPicPr>
          <p:cNvPr id="13" name="Image 2" descr="Key">    </p:cNvPr>
          <p:cNvPicPr>
            <a:picLocks noChangeAspect="1"/>
          </p:cNvPicPr>
          <p:nvPr/>
        </p:nvPicPr>
        <p:blipFill>
          <a:blip r:embed="rId3"/>
          <a:srcRect l="0" r="0" t="0" b="0"/>
          <a:stretch/>
        </p:blipFill>
        <p:spPr>
          <a:xfrm>
            <a:off x="6386374" y="2068302"/>
            <a:ext cx="304763" cy="304763"/>
          </a:xfrm>
          <a:prstGeom prst="rect">
            <a:avLst/>
          </a:prstGeom>
        </p:spPr>
      </p:pic>
      <p:sp>
        <p:nvSpPr>
          <p:cNvPr id="14" name="Text 9"/>
          <p:cNvSpPr/>
          <p:nvPr/>
        </p:nvSpPr>
        <p:spPr>
          <a:xfrm>
            <a:off x="6386374" y="2474627"/>
            <a:ext cx="2161787" cy="330163"/>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Secrets</a:t>
            </a:r>
            <a:endParaRPr lang="en-US" sz="2000" dirty="0"/>
          </a:p>
        </p:txBody>
      </p:sp>
      <p:sp>
        <p:nvSpPr>
          <p:cNvPr id="15" name="Text 10"/>
          <p:cNvSpPr/>
          <p:nvPr/>
        </p:nvSpPr>
        <p:spPr>
          <a:xfrm>
            <a:off x="6457494" y="2880947"/>
            <a:ext cx="2083047" cy="1092114"/>
          </a:xfrm>
          <a:prstGeom prst="rect">
            <a:avLst/>
          </a:prstGeom>
          <a:noFill/>
          <a:ln/>
        </p:spPr>
        <p:txBody>
          <a:bodyPr wrap="square" lIns="0" tIns="0" rIns="0" bIns="0" rtlCol="0" anchor="t">
            <a:normAutofit/>
          </a:bodyPr>
          <a:lstStyle/>
          <a:p>
            <a:pPr algn="l" marL="182880" indent="-182880">
              <a:lnSpc>
                <a:spcPts val="2100"/>
              </a:lnSpc>
              <a:buSzPct val="100000"/>
              <a:buChar char="•"/>
            </a:pPr>
            <a:r>
              <a:rPr lang="en-US" sz="1500" dirty="0">
                <a:solidFill>
                  <a:srgbClr val="46536A"/>
                </a:solidFill>
                <a:latin typeface="IBM Plex Sans" pitchFamily="34" charset="0"/>
                <a:ea typeface="IBM Plex Sans" pitchFamily="34" charset="-122"/>
                <a:cs typeface="IBM Plex Sans" pitchFamily="34" charset="-120"/>
              </a:rPr>
              <a:t>.env hors de Git</a:t>
            </a:r>
            <a:endParaRPr lang="en-US" sz="1500" dirty="0"/>
          </a:p>
          <a:p>
            <a:pPr algn="l" marL="182880" indent="-182880">
              <a:lnSpc>
                <a:spcPts val="2100"/>
              </a:lnSpc>
              <a:buSzPct val="100000"/>
              <a:buChar char="•"/>
            </a:pPr>
            <a:r>
              <a:rPr lang="en-US" sz="1500" dirty="0">
                <a:solidFill>
                  <a:srgbClr val="46536A"/>
                </a:solidFill>
                <a:latin typeface="IBM Plex Sans" pitchFamily="34" charset="0"/>
                <a:ea typeface="IBM Plex Sans" pitchFamily="34" charset="-122"/>
                <a:cs typeface="IBM Plex Sans" pitchFamily="34" charset="-120"/>
              </a:rPr>
              <a:t>${VAR:?} obligatoire</a:t>
            </a:r>
            <a:endParaRPr lang="en-US" sz="1500" dirty="0"/>
          </a:p>
          <a:p>
            <a:pPr algn="l" marL="182880" indent="-182880">
              <a:lnSpc>
                <a:spcPts val="2100"/>
              </a:lnSpc>
              <a:buSzPct val="100000"/>
              <a:buChar char="•"/>
            </a:pPr>
            <a:r>
              <a:rPr lang="en-US" sz="1500" dirty="0">
                <a:solidFill>
                  <a:srgbClr val="46536A"/>
                </a:solidFill>
                <a:latin typeface="IBM Plex Sans" pitchFamily="34" charset="0"/>
                <a:ea typeface="IBM Plex Sans" pitchFamily="34" charset="-122"/>
                <a:cs typeface="IBM Plex Sans" pitchFamily="34" charset="-120"/>
              </a:rPr>
              <a:t>aucun token dans le code</a:t>
            </a:r>
            <a:endParaRPr lang="en-US" sz="1500" dirty="0"/>
          </a:p>
        </p:txBody>
      </p:sp>
      <p:sp>
        <p:nvSpPr>
          <p:cNvPr id="16" name="Shape 11"/>
          <p:cNvSpPr/>
          <p:nvPr/>
        </p:nvSpPr>
        <p:spPr>
          <a:xfrm>
            <a:off x="8858131" y="1860407"/>
            <a:ext cx="2514703" cy="2295152"/>
          </a:xfrm>
          <a:prstGeom prst="roundRect">
            <a:avLst>
              <a:gd name="adj" fmla="val 4703"/>
            </a:avLst>
          </a:prstGeom>
          <a:solidFill>
            <a:srgbClr val="FDFDFC"/>
          </a:solidFill>
          <a:ln w="12700">
            <a:solidFill>
              <a:srgbClr val="DCE2EA"/>
            </a:solidFill>
            <a:prstDash val="solid"/>
          </a:ln>
        </p:spPr>
      </p:sp>
      <p:pic>
        <p:nvPicPr>
          <p:cNvPr id="17" name="Image 3" descr="Activity">    </p:cNvPr>
          <p:cNvPicPr>
            <a:picLocks noChangeAspect="1"/>
          </p:cNvPicPr>
          <p:nvPr/>
        </p:nvPicPr>
        <p:blipFill>
          <a:blip r:embed="rId4"/>
          <a:srcRect l="0" r="0" t="0" b="0"/>
          <a:stretch/>
        </p:blipFill>
        <p:spPr>
          <a:xfrm>
            <a:off x="9066028" y="2068302"/>
            <a:ext cx="304763" cy="304763"/>
          </a:xfrm>
          <a:prstGeom prst="rect">
            <a:avLst/>
          </a:prstGeom>
        </p:spPr>
      </p:pic>
      <p:sp>
        <p:nvSpPr>
          <p:cNvPr id="18" name="Text 12"/>
          <p:cNvSpPr/>
          <p:nvPr/>
        </p:nvSpPr>
        <p:spPr>
          <a:xfrm>
            <a:off x="9066028" y="2474627"/>
            <a:ext cx="2161876" cy="330163"/>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Ressources</a:t>
            </a:r>
            <a:endParaRPr lang="en-US" sz="2000" dirty="0"/>
          </a:p>
        </p:txBody>
      </p:sp>
      <p:sp>
        <p:nvSpPr>
          <p:cNvPr id="19" name="Text 13"/>
          <p:cNvSpPr/>
          <p:nvPr/>
        </p:nvSpPr>
        <p:spPr>
          <a:xfrm>
            <a:off x="9137148" y="2880947"/>
            <a:ext cx="2083136" cy="825436"/>
          </a:xfrm>
          <a:prstGeom prst="rect">
            <a:avLst/>
          </a:prstGeom>
          <a:noFill/>
          <a:ln/>
        </p:spPr>
        <p:txBody>
          <a:bodyPr wrap="square" lIns="0" tIns="0" rIns="0" bIns="0" rtlCol="0" anchor="t">
            <a:normAutofit/>
          </a:bodyPr>
          <a:lstStyle/>
          <a:p>
            <a:pPr algn="l" marL="182880" indent="-182880">
              <a:lnSpc>
                <a:spcPts val="2100"/>
              </a:lnSpc>
              <a:buSzPct val="100000"/>
              <a:buChar char="•"/>
            </a:pPr>
            <a:r>
              <a:rPr lang="en-US" sz="1500" dirty="0">
                <a:solidFill>
                  <a:srgbClr val="46536A"/>
                </a:solidFill>
                <a:latin typeface="IBM Plex Sans" pitchFamily="34" charset="0"/>
                <a:ea typeface="IBM Plex Sans" pitchFamily="34" charset="-122"/>
                <a:cs typeface="IBM Plex Sans" pitchFamily="34" charset="-120"/>
              </a:rPr>
              <a:t>CPU, mémoire, pids</a:t>
            </a:r>
            <a:endParaRPr lang="en-US" sz="1500" dirty="0"/>
          </a:p>
          <a:p>
            <a:pPr algn="l" marL="182880" indent="-182880">
              <a:lnSpc>
                <a:spcPts val="2100"/>
              </a:lnSpc>
              <a:buSzPct val="100000"/>
              <a:buChar char="•"/>
            </a:pPr>
            <a:r>
              <a:rPr lang="en-US" sz="1500" dirty="0">
                <a:solidFill>
                  <a:srgbClr val="46536A"/>
                </a:solidFill>
                <a:latin typeface="IBM Plex Sans" pitchFamily="34" charset="0"/>
                <a:ea typeface="IBM Plex Sans" pitchFamily="34" charset="-122"/>
                <a:cs typeface="IBM Plex Sans" pitchFamily="34" charset="-120"/>
              </a:rPr>
              <a:t>rotation des logs</a:t>
            </a:r>
            <a:endParaRPr lang="en-US" sz="1500" dirty="0"/>
          </a:p>
          <a:p>
            <a:pPr algn="l" marL="182880" indent="-182880">
              <a:lnSpc>
                <a:spcPts val="2100"/>
              </a:lnSpc>
              <a:buSzPct val="100000"/>
              <a:buChar char="•"/>
            </a:pPr>
            <a:r>
              <a:rPr lang="en-US" sz="1500" dirty="0">
                <a:solidFill>
                  <a:srgbClr val="46536A"/>
                </a:solidFill>
                <a:latin typeface="IBM Plex Sans" pitchFamily="34" charset="0"/>
                <a:ea typeface="IBM Plex Sans" pitchFamily="34" charset="-122"/>
                <a:cs typeface="IBM Plex Sans" pitchFamily="34" charset="-120"/>
              </a:rPr>
              <a:t>requêtes ≤ 50 Mo</a:t>
            </a:r>
            <a:endParaRPr lang="en-US" sz="1500" dirty="0"/>
          </a:p>
        </p:txBody>
      </p:sp>
      <p:sp>
        <p:nvSpPr>
          <p:cNvPr id="20" name="Shape 14"/>
          <p:cNvSpPr/>
          <p:nvPr/>
        </p:nvSpPr>
        <p:spPr>
          <a:xfrm>
            <a:off x="812731" y="4466673"/>
            <a:ext cx="10566453" cy="832990"/>
          </a:xfrm>
          <a:prstGeom prst="roundRect">
            <a:avLst>
              <a:gd name="adj" fmla="val 12197"/>
            </a:avLst>
          </a:prstGeom>
          <a:solidFill>
            <a:srgbClr val="0F1B2D"/>
          </a:solidFill>
          <a:ln/>
        </p:spPr>
      </p:sp>
      <p:sp>
        <p:nvSpPr>
          <p:cNvPr id="21" name="Text 15"/>
          <p:cNvSpPr/>
          <p:nvPr/>
        </p:nvSpPr>
        <p:spPr>
          <a:xfrm>
            <a:off x="1066714" y="4644399"/>
            <a:ext cx="10360241"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A8FF"/>
                </a:solidFill>
                <a:latin typeface="JetBrains Mono" pitchFamily="49" charset="0"/>
                <a:ea typeface="JetBrains Mono" pitchFamily="49" charset="-122"/>
                <a:cs typeface="JetBrains Mono" pitchFamily="49" charset="-120"/>
              </a:rPr>
              <a:t>$ docker compose exec bridge sh -c 'id; touch /app/x'</a:t>
            </a:r>
            <a:endParaRPr lang="en-US" sz="1200" dirty="0"/>
          </a:p>
        </p:txBody>
      </p:sp>
      <p:sp>
        <p:nvSpPr>
          <p:cNvPr id="22" name="Text 16"/>
          <p:cNvSpPr/>
          <p:nvPr/>
        </p:nvSpPr>
        <p:spPr>
          <a:xfrm>
            <a:off x="1066714" y="4908556"/>
            <a:ext cx="10360241"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uid=1000(node) … touch: /app/x: Read-only file system</a:t>
            </a:r>
            <a:endParaRPr lang="en-US" sz="1200" dirty="0"/>
          </a:p>
        </p:txBody>
      </p:sp>
      <p:sp>
        <p:nvSpPr>
          <p:cNvPr id="23" name="Text 17"/>
          <p:cNvSpPr/>
          <p:nvPr/>
        </p:nvSpPr>
        <p:spPr>
          <a:xfrm>
            <a:off x="812731" y="6235688"/>
            <a:ext cx="2760554" cy="24129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9"/>
                </a:solidFill>
                <a:latin typeface="IBM Plex Sans" pitchFamily="34" charset="0"/>
                <a:ea typeface="IBM Plex Sans" pitchFamily="34" charset="-122"/>
                <a:cs typeface="IBM Plex Sans" pitchFamily="34" charset="-120"/>
              </a:rPr>
              <a:t>IM Bridge · Mattermost ⇄ Discord</a:t>
            </a:r>
            <a:endParaRPr lang="en-US" sz="1200" dirty="0"/>
          </a:p>
        </p:txBody>
      </p:sp>
      <p:sp>
        <p:nvSpPr>
          <p:cNvPr id="24" name="Text 18"/>
          <p:cNvSpPr/>
          <p:nvPr/>
        </p:nvSpPr>
        <p:spPr>
          <a:xfrm>
            <a:off x="10893598" y="6235688"/>
            <a:ext cx="485499" cy="24129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9"/>
                </a:solidFill>
                <a:latin typeface="IBM Plex Sans" pitchFamily="34" charset="0"/>
                <a:ea typeface="IBM Plex Sans" pitchFamily="34" charset="-122"/>
                <a:cs typeface="IBM Plex Sans" pitchFamily="34" charset="-120"/>
              </a:rPr>
              <a:t>9 / 14</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731" y="812726"/>
            <a:ext cx="10883447" cy="238778"/>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F6FED"/>
                </a:solidFill>
                <a:latin typeface="JetBrains Mono" pitchFamily="49" charset="0"/>
                <a:ea typeface="JetBrains Mono" pitchFamily="49" charset="-122"/>
                <a:cs typeface="JetBrains Mono" pitchFamily="49" charset="-120"/>
              </a:rPr>
              <a:t>COMPOSE AVANCÉ</a:t>
            </a:r>
            <a:endParaRPr lang="en-US" sz="1200" dirty="0"/>
          </a:p>
        </p:txBody>
      </p:sp>
      <p:sp>
        <p:nvSpPr>
          <p:cNvPr id="3" name="Text 1"/>
          <p:cNvSpPr/>
          <p:nvPr>
            <p:ph type="title"/>
          </p:nvPr>
        </p:nvSpPr>
        <p:spPr>
          <a:xfrm>
            <a:off x="812731" y="1102277"/>
            <a:ext cx="10883447" cy="472415"/>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Fragments et variables</a:t>
            </a:r>
            <a:endParaRPr lang="en-US" sz="3200" dirty="0"/>
          </a:p>
        </p:txBody>
      </p:sp>
      <p:sp>
        <p:nvSpPr>
          <p:cNvPr id="4" name="Text 2"/>
          <p:cNvSpPr/>
          <p:nvPr/>
        </p:nvSpPr>
        <p:spPr>
          <a:xfrm>
            <a:off x="812731" y="1854051"/>
            <a:ext cx="5232334" cy="292079"/>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Écrit une fois, hérité par les 5 services</a:t>
            </a:r>
            <a:endParaRPr lang="en-US" sz="1500" dirty="0"/>
          </a:p>
        </p:txBody>
      </p:sp>
      <p:sp>
        <p:nvSpPr>
          <p:cNvPr id="5" name="Text 3"/>
          <p:cNvSpPr/>
          <p:nvPr/>
        </p:nvSpPr>
        <p:spPr>
          <a:xfrm>
            <a:off x="812731" y="2222289"/>
            <a:ext cx="5079936" cy="2869990"/>
          </a:xfrm>
          <a:prstGeom prst="roundRect">
            <a:avLst>
              <a:gd name="adj" fmla="val 3540"/>
            </a:avLst>
          </a:prstGeom>
          <a:solidFill>
            <a:srgbClr val="0F1B2D"/>
          </a:solidFill>
          <a:ln/>
        </p:spPr>
        <p:txBody>
          <a:bodyPr wrap="square" lIns="198836" tIns="148042" rIns="60154" bIns="122498" rtlCol="0" anchor="t">
            <a:normAutofit/>
          </a:bodyPr>
          <a:lstStyle/>
          <a:p>
            <a:pPr algn="l" indent="0" marL="0">
              <a:lnSpc>
                <a:spcPts val="1800"/>
              </a:lnSpc>
              <a:buNone/>
            </a:pPr>
            <a:r>
              <a:rPr lang="en-US" sz="1200" dirty="0">
                <a:solidFill>
                  <a:srgbClr val="7FA8FF"/>
                </a:solidFill>
                <a:latin typeface="JetBrains Mono" pitchFamily="49" charset="0"/>
                <a:ea typeface="JetBrains Mono" pitchFamily="49" charset="-122"/>
                <a:cs typeface="JetBrains Mono" pitchFamily="49" charset="-120"/>
              </a:rPr>
              <a:t>x-common: &amp;common</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  restart: unless-stopped</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  logging: … max-size 10m, max-file 3</a:t>
            </a:r>
            <a:endParaRPr lang="en-US" sz="1200" dirty="0"/>
          </a:p>
          <a:p>
            <a:pPr algn="l" indent="0" marL="0">
              <a:lnSpc>
                <a:spcPts val="1800"/>
              </a:lnSpc>
              <a:buNone/>
            </a:pPr>
            <a:endParaRPr lang="en-US" sz="1200" dirty="0"/>
          </a:p>
          <a:p>
            <a:pPr algn="l" indent="0" marL="0">
              <a:lnSpc>
                <a:spcPts val="1800"/>
              </a:lnSpc>
              <a:buNone/>
            </a:pPr>
            <a:r>
              <a:rPr lang="en-US" sz="1200" dirty="0">
                <a:solidFill>
                  <a:srgbClr val="7FA8FF"/>
                </a:solidFill>
                <a:latin typeface="JetBrains Mono" pitchFamily="49" charset="0"/>
                <a:ea typeface="JetBrains Mono" pitchFamily="49" charset="-122"/>
                <a:cs typeface="JetBrains Mono" pitchFamily="49" charset="-120"/>
              </a:rPr>
              <a:t>x-hardened: &amp;hardened</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  security_opt: [no-new-privileges:true]</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  cap_drop: [ALL]</a:t>
            </a:r>
            <a:endParaRPr lang="en-US" sz="1200" dirty="0"/>
          </a:p>
          <a:p>
            <a:pPr algn="l" indent="0" marL="0">
              <a:lnSpc>
                <a:spcPts val="1800"/>
              </a:lnSpc>
              <a:buNone/>
            </a:pP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services:</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  bridge:</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    </a:t>
            </a:r>
            <a:r>
              <a:rPr lang="en-US" sz="1200" dirty="0">
                <a:solidFill>
                  <a:srgbClr val="F2B37A"/>
                </a:solidFill>
                <a:latin typeface="JetBrains Mono" pitchFamily="49" charset="0"/>
                <a:ea typeface="JetBrains Mono" pitchFamily="49" charset="-122"/>
                <a:cs typeface="JetBrains Mono" pitchFamily="49" charset="-120"/>
              </a:rPr>
              <a:t>&lt;&lt;: [*common, *hardened]</a:t>
            </a:r>
            <a:endParaRPr lang="en-US" sz="1200" dirty="0"/>
          </a:p>
        </p:txBody>
      </p:sp>
      <p:sp>
        <p:nvSpPr>
          <p:cNvPr id="6" name="Text 4"/>
          <p:cNvSpPr/>
          <p:nvPr/>
        </p:nvSpPr>
        <p:spPr>
          <a:xfrm>
            <a:off x="6197429" y="1854051"/>
            <a:ext cx="5337208" cy="292079"/>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Trois formes d’interpolation</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208559" y="2233419"/>
          <a:ext cx="5170625" cy="1868924"/>
        </p:xfrm>
        <a:graphic>
          <a:graphicData uri="http://schemas.openxmlformats.org/drawingml/2006/table">
            <a:tbl>
              <a:tblPr/>
              <a:tblGrid>
                <a:gridCol w="2068250"/>
                <a:gridCol w="3102375"/>
              </a:tblGrid>
              <a:tr h="331109">
                <a:tc>
                  <a:txBody>
                    <a:bodyPr/>
                    <a:lstStyle/>
                    <a:p>
                      <a:pPr indent="0" marL="0">
                        <a:lnSpc>
                          <a:spcPts val="1680"/>
                        </a:lnSpc>
                        <a:buNone/>
                      </a:pPr>
                      <a:r>
                        <a:rPr lang="en-US" sz="1200" b="1" dirty="0">
                          <a:solidFill>
                            <a:srgbClr val="0F1B2D"/>
                          </a:solidFill>
                          <a:latin typeface="IBM Plex Sans" pitchFamily="34" charset="0"/>
                          <a:ea typeface="IBM Plex Sans" pitchFamily="34" charset="-122"/>
                          <a:cs typeface="IBM Plex Sans" pitchFamily="34" charset="-120"/>
                        </a:rPr>
                        <a:t>Syntaxe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3E5E8"/>
                    </a:solidFill>
                  </a:tcPr>
                </a:tc>
                <a:tc>
                  <a:txBody>
                    <a:bodyPr/>
                    <a:lstStyle/>
                    <a:p>
                      <a:pPr indent="0" marL="0">
                        <a:lnSpc>
                          <a:spcPts val="1680"/>
                        </a:lnSpc>
                        <a:buNone/>
                      </a:pPr>
                      <a:r>
                        <a:rPr lang="en-US" sz="1200" b="1" dirty="0">
                          <a:solidFill>
                            <a:srgbClr val="0F1B2D"/>
                          </a:solidFill>
                          <a:latin typeface="IBM Plex Sans" pitchFamily="34" charset="0"/>
                          <a:ea typeface="IBM Plex Sans" pitchFamily="34" charset="-122"/>
                          <a:cs typeface="IBM Plex Sans" pitchFamily="34" charset="-120"/>
                        </a:rPr>
                        <a:t>Effet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7B9"/>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3E5E8"/>
                    </a:solidFill>
                  </a:tcPr>
                </a:tc>
              </a:tr>
              <a:tr h="331109">
                <a:tc>
                  <a:txBody>
                    <a:bodyPr/>
                    <a:lstStyle/>
                    <a:p>
                      <a:pP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${VAR:?message}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Obligatoire : Compose refuse de démarrer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r>
              <a:tr h="331109">
                <a:tc>
                  <a:txBody>
                    <a:bodyPr/>
                    <a:lstStyle/>
                    <a:p>
                      <a:pP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${VAR:-défaut}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Valeur par défaut : port, URL, TZ</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r>
              <a:tr h="544487">
                <a:tc>
                  <a:txBody>
                    <a:bodyPr/>
                    <a:lstStyle/>
                    <a:p>
                      <a:pP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${A}:${B}@db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Chaîne de connexion construite : mot de passe saisi une fois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r>
              <a:tr h="331109">
                <a:tc>
                  <a:txBody>
                    <a:bodyPr/>
                    <a:lstStyle/>
                    <a:p>
                      <a:pP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build args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MATTERMOST_VERSION choisie dans .env</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r>
            </a:tbl>
          </a:graphicData>
        </a:graphic>
      </p:graphicFrame>
      <p:sp>
        <p:nvSpPr>
          <p:cNvPr id="8" name="Text 5"/>
          <p:cNvSpPr/>
          <p:nvPr/>
        </p:nvSpPr>
        <p:spPr>
          <a:xfrm>
            <a:off x="6197429" y="4203905"/>
            <a:ext cx="5337208" cy="4521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JetBrains Mono" pitchFamily="49" charset="0"/>
                <a:ea typeface="JetBrains Mono" pitchFamily="49" charset="-122"/>
                <a:cs typeface="JetBrains Mono" pitchFamily="49" charset="-120"/>
              </a:rPr>
              <a:t>$ POSTGRES_PASSWORD= docker compose config</a:t>
            </a:r>
            <a:endParaRPr lang="en-US" sz="1200" dirty="0"/>
          </a:p>
          <a:p>
            <a:pPr algn="l" indent="0" marL="0">
              <a:lnSpc>
                <a:spcPts val="1680"/>
              </a:lnSpc>
              <a:buNone/>
            </a:pPr>
            <a:r>
              <a:rPr lang="en-US" sz="1200" dirty="0">
                <a:solidFill>
                  <a:srgbClr val="46536A"/>
                </a:solidFill>
                <a:latin typeface="JetBrains Mono" pitchFamily="49" charset="0"/>
                <a:ea typeface="JetBrains Mono" pitchFamily="49" charset="-122"/>
                <a:cs typeface="JetBrains Mono" pitchFamily="49" charset="-120"/>
              </a:rPr>
              <a:t>→ required variable POSTGRES_PASSWORD is missing a value</a:t>
            </a:r>
            <a:endParaRPr lang="en-US" sz="1200" dirty="0"/>
          </a:p>
        </p:txBody>
      </p:sp>
      <p:sp>
        <p:nvSpPr>
          <p:cNvPr id="9" name="Text 6"/>
          <p:cNvSpPr/>
          <p:nvPr/>
        </p:nvSpPr>
        <p:spPr>
          <a:xfrm>
            <a:off x="812731" y="6235688"/>
            <a:ext cx="2760554" cy="24129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9"/>
                </a:solidFill>
                <a:latin typeface="IBM Plex Sans" pitchFamily="34" charset="0"/>
                <a:ea typeface="IBM Plex Sans" pitchFamily="34" charset="-122"/>
                <a:cs typeface="IBM Plex Sans" pitchFamily="34" charset="-120"/>
              </a:rPr>
              <a:t>IM Bridge · Mattermost ⇄ Discord</a:t>
            </a:r>
            <a:endParaRPr lang="en-US" sz="1200" dirty="0"/>
          </a:p>
        </p:txBody>
      </p:sp>
      <p:sp>
        <p:nvSpPr>
          <p:cNvPr id="10" name="Text 7"/>
          <p:cNvSpPr/>
          <p:nvPr/>
        </p:nvSpPr>
        <p:spPr>
          <a:xfrm>
            <a:off x="10783936" y="6235688"/>
            <a:ext cx="595162" cy="24129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9"/>
                </a:solidFill>
                <a:latin typeface="IBM Plex Sans" pitchFamily="34" charset="0"/>
                <a:ea typeface="IBM Plex Sans" pitchFamily="34" charset="-122"/>
                <a:cs typeface="IBM Plex Sans" pitchFamily="34" charset="-120"/>
              </a:rPr>
              <a:t>10 / 14</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731" y="812732"/>
            <a:ext cx="10883447" cy="238778"/>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F6FED"/>
                </a:solidFill>
                <a:latin typeface="JetBrains Mono" pitchFamily="49" charset="0"/>
                <a:ea typeface="JetBrains Mono" pitchFamily="49" charset="-122"/>
                <a:cs typeface="JetBrains Mono" pitchFamily="49" charset="-120"/>
              </a:rPr>
              <a:t>CGROUPS</a:t>
            </a:r>
            <a:endParaRPr lang="en-US" sz="1200" dirty="0"/>
          </a:p>
        </p:txBody>
      </p:sp>
      <p:sp>
        <p:nvSpPr>
          <p:cNvPr id="3" name="Text 1"/>
          <p:cNvSpPr/>
          <p:nvPr>
            <p:ph type="title"/>
          </p:nvPr>
        </p:nvSpPr>
        <p:spPr>
          <a:xfrm>
            <a:off x="812731" y="1102277"/>
            <a:ext cx="10883447" cy="472415"/>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Chaque service dans sa boîte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860" y="1865187"/>
          <a:ext cx="6694614" cy="2466103"/>
        </p:xfrm>
        <a:graphic>
          <a:graphicData uri="http://schemas.openxmlformats.org/drawingml/2006/table">
            <a:tbl>
              <a:tblPr/>
              <a:tblGrid>
                <a:gridCol w="1874492"/>
                <a:gridCol w="1071138"/>
                <a:gridCol w="1338923"/>
                <a:gridCol w="1205031"/>
                <a:gridCol w="1205031"/>
              </a:tblGrid>
              <a:tr h="411017">
                <a:tc>
                  <a:txBody>
                    <a:bodyPr/>
                    <a:lstStyle/>
                    <a:p>
                      <a:pPr indent="0" marL="0">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Service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3E5E8"/>
                    </a:solidFill>
                  </a:tcPr>
                </a:tc>
                <a:tc>
                  <a:txBody>
                    <a:bodyPr/>
                    <a:lstStyle/>
                    <a:p>
                      <a:pPr algn="r" indent="0" marL="0">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CPU</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7B9"/>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3E5E8"/>
                    </a:solidFill>
                  </a:tcPr>
                </a:tc>
                <a:tc>
                  <a:txBody>
                    <a:bodyPr/>
                    <a:lstStyle/>
                    <a:p>
                      <a:pPr algn="r" indent="0" marL="0">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Mémoire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7B9"/>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3E5E8"/>
                    </a:solidFill>
                  </a:tcPr>
                </a:tc>
                <a:tc>
                  <a:txBody>
                    <a:bodyPr/>
                    <a:lstStyle/>
                    <a:p>
                      <a:pPr algn="r" indent="0" marL="0">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pids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7B9"/>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3E5E8"/>
                    </a:solidFill>
                  </a:tcPr>
                </a:tc>
                <a:tc>
                  <a:txBody>
                    <a:bodyPr/>
                    <a:lstStyle/>
                    <a:p>
                      <a:pPr algn="r" indent="0" marL="0">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Au repos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7B9"/>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3E5E8"/>
                    </a:solidFill>
                  </a:tcPr>
                </a:tc>
              </a:tr>
              <a:tr h="411017">
                <a:tc>
                  <a:txBody>
                    <a:bodyPr/>
                    <a:lstStyle/>
                    <a:p>
                      <a:pP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mattermost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algn="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algn="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2 Go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algn="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1024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algn="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358 Mo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r>
              <a:tr h="411017">
                <a:tc>
                  <a:txBody>
                    <a:bodyPr/>
                    <a:lstStyle/>
                    <a:p>
                      <a:pP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db</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algn="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algn="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512 Mo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algn="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200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algn="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80 Mo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r>
              <a:tr h="411017">
                <a:tc>
                  <a:txBody>
                    <a:bodyPr/>
                    <a:lstStyle/>
                    <a:p>
                      <a:pP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bridge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algn="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0,5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algn="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256 Mo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algn="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100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algn="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r>
              <a:tr h="411017">
                <a:tc>
                  <a:txBody>
                    <a:bodyPr/>
                    <a:lstStyle/>
                    <a:p>
                      <a:pP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nginx</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algn="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0,5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algn="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128 Mo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algn="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100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algn="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13 Mo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r>
              <a:tr h="411017">
                <a:tc>
                  <a:txBody>
                    <a:bodyPr/>
                    <a:lstStyle/>
                    <a:p>
                      <a:pP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status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algn="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0,25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algn="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64 Mo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algn="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50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algn="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9 Mo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r>
            </a:tbl>
          </a:graphicData>
        </a:graphic>
      </p:graphicFrame>
      <p:sp>
        <p:nvSpPr>
          <p:cNvPr id="5" name="Shape 2"/>
          <p:cNvSpPr/>
          <p:nvPr/>
        </p:nvSpPr>
        <p:spPr>
          <a:xfrm>
            <a:off x="7823238" y="1854057"/>
            <a:ext cx="3555946" cy="1511034"/>
          </a:xfrm>
          <a:prstGeom prst="roundRect">
            <a:avLst>
              <a:gd name="adj" fmla="val 6724"/>
            </a:avLst>
          </a:prstGeom>
          <a:solidFill>
            <a:srgbClr val="0F1B2D"/>
          </a:solidFill>
          <a:ln/>
        </p:spPr>
      </p:sp>
      <p:sp>
        <p:nvSpPr>
          <p:cNvPr id="6" name="Text 3"/>
          <p:cNvSpPr/>
          <p:nvPr/>
        </p:nvSpPr>
        <p:spPr>
          <a:xfrm>
            <a:off x="8026356" y="2057171"/>
            <a:ext cx="3244203" cy="25399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7FA8FF"/>
                </a:solidFill>
                <a:latin typeface="IBM Plex Sans" pitchFamily="34" charset="0"/>
                <a:ea typeface="IBM Plex Sans" pitchFamily="34" charset="-122"/>
                <a:cs typeface="IBM Plex Sans" pitchFamily="34" charset="-120"/>
              </a:rPr>
              <a:t>Fuite mémoire ?</a:t>
            </a:r>
            <a:endParaRPr lang="en-US" sz="1500" dirty="0"/>
          </a:p>
        </p:txBody>
      </p:sp>
      <p:sp>
        <p:nvSpPr>
          <p:cNvPr id="7" name="Text 4"/>
          <p:cNvSpPr/>
          <p:nvPr/>
        </p:nvSpPr>
        <p:spPr>
          <a:xfrm>
            <a:off x="8026356" y="2361933"/>
            <a:ext cx="3244203" cy="825436"/>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7FA"/>
                </a:solidFill>
                <a:latin typeface="IBM Plex Sans" pitchFamily="34" charset="0"/>
                <a:ea typeface="IBM Plex Sans" pitchFamily="34" charset="-122"/>
                <a:cs typeface="IBM Plex Sans" pitchFamily="34" charset="-120"/>
              </a:rPr>
              <a:t>Seul le service fautif est tué puis redémarré. Mattermost reste debout.</a:t>
            </a:r>
            <a:endParaRPr lang="en-US" sz="1500" dirty="0"/>
          </a:p>
        </p:txBody>
      </p:sp>
      <p:sp>
        <p:nvSpPr>
          <p:cNvPr id="8" name="Shape 5"/>
          <p:cNvSpPr/>
          <p:nvPr/>
        </p:nvSpPr>
        <p:spPr>
          <a:xfrm>
            <a:off x="7829588" y="3523779"/>
            <a:ext cx="3543246" cy="1253915"/>
          </a:xfrm>
          <a:prstGeom prst="roundRect">
            <a:avLst>
              <a:gd name="adj" fmla="val 7596"/>
            </a:avLst>
          </a:prstGeom>
          <a:solidFill>
            <a:srgbClr val="FDFDFC"/>
          </a:solidFill>
          <a:ln w="12700">
            <a:solidFill>
              <a:srgbClr val="DCE2EA"/>
            </a:solidFill>
            <a:prstDash val="solid"/>
          </a:ln>
        </p:spPr>
      </p:sp>
      <p:sp>
        <p:nvSpPr>
          <p:cNvPr id="9" name="Text 6"/>
          <p:cNvSpPr/>
          <p:nvPr/>
        </p:nvSpPr>
        <p:spPr>
          <a:xfrm>
            <a:off x="8037485" y="3731673"/>
            <a:ext cx="3221275" cy="25399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1B2D"/>
                </a:solidFill>
                <a:latin typeface="IBM Plex Sans" pitchFamily="34" charset="0"/>
                <a:ea typeface="IBM Plex Sans" pitchFamily="34" charset="-122"/>
                <a:cs typeface="IBM Plex Sans" pitchFamily="34" charset="-120"/>
              </a:rPr>
              <a:t>Fork bomb ?</a:t>
            </a:r>
            <a:endParaRPr lang="en-US" sz="1500" dirty="0"/>
          </a:p>
        </p:txBody>
      </p:sp>
      <p:sp>
        <p:nvSpPr>
          <p:cNvPr id="10" name="Text 7"/>
          <p:cNvSpPr/>
          <p:nvPr/>
        </p:nvSpPr>
        <p:spPr>
          <a:xfrm>
            <a:off x="8037485" y="4036436"/>
            <a:ext cx="3221275" cy="558757"/>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36A"/>
                </a:solidFill>
                <a:latin typeface="IBM Plex Sans" pitchFamily="34" charset="0"/>
                <a:ea typeface="IBM Plex Sans" pitchFamily="34" charset="-122"/>
                <a:cs typeface="IBM Plex Sans" pitchFamily="34" charset="-120"/>
              </a:rPr>
              <a:t>La limite de processus la confine au conteneur.</a:t>
            </a:r>
            <a:endParaRPr lang="en-US" sz="1500" dirty="0"/>
          </a:p>
        </p:txBody>
      </p:sp>
      <p:sp>
        <p:nvSpPr>
          <p:cNvPr id="11" name="Text 8"/>
          <p:cNvSpPr/>
          <p:nvPr/>
        </p:nvSpPr>
        <p:spPr>
          <a:xfrm>
            <a:off x="812731" y="5088806"/>
            <a:ext cx="10883447"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ED"/>
                </a:solidFill>
                <a:latin typeface="IBM Plex Sans" pitchFamily="34" charset="0"/>
                <a:ea typeface="IBM Plex Sans" pitchFamily="34" charset="-122"/>
                <a:cs typeface="IBM Plex Sans" pitchFamily="34" charset="-120"/>
              </a:rPr>
              <a:t>deploy.resources.limits</a:t>
            </a:r>
            <a:r>
              <a:rPr lang="en-US" sz="1200" dirty="0">
                <a:solidFill>
                  <a:srgbClr val="46536A"/>
                </a:solidFill>
                <a:latin typeface="IBM Plex Sans" pitchFamily="34" charset="0"/>
                <a:ea typeface="IBM Plex Sans" pitchFamily="34" charset="-122"/>
                <a:cs typeface="IBM Plex Sans" pitchFamily="34" charset="-120"/>
              </a:rPr>
              <a:t> · « au repos » : docker stats sur une instance de test vide</a:t>
            </a:r>
            <a:endParaRPr lang="en-US" sz="1200" dirty="0"/>
          </a:p>
        </p:txBody>
      </p:sp>
      <p:sp>
        <p:nvSpPr>
          <p:cNvPr id="12" name="Text 9"/>
          <p:cNvSpPr/>
          <p:nvPr/>
        </p:nvSpPr>
        <p:spPr>
          <a:xfrm>
            <a:off x="812731" y="6235688"/>
            <a:ext cx="2760554" cy="24129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9"/>
                </a:solidFill>
                <a:latin typeface="IBM Plex Sans" pitchFamily="34" charset="0"/>
                <a:ea typeface="IBM Plex Sans" pitchFamily="34" charset="-122"/>
                <a:cs typeface="IBM Plex Sans" pitchFamily="34" charset="-120"/>
              </a:rPr>
              <a:t>IM Bridge · Mattermost ⇄ Discord</a:t>
            </a:r>
            <a:endParaRPr lang="en-US" sz="1200" dirty="0"/>
          </a:p>
        </p:txBody>
      </p:sp>
      <p:sp>
        <p:nvSpPr>
          <p:cNvPr id="13" name="Text 10"/>
          <p:cNvSpPr/>
          <p:nvPr/>
        </p:nvSpPr>
        <p:spPr>
          <a:xfrm>
            <a:off x="10783936" y="6235688"/>
            <a:ext cx="595162" cy="24129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9"/>
                </a:solidFill>
                <a:latin typeface="IBM Plex Sans" pitchFamily="34" charset="0"/>
                <a:ea typeface="IBM Plex Sans" pitchFamily="34" charset="-122"/>
                <a:cs typeface="IBM Plex Sans" pitchFamily="34" charset="-120"/>
              </a:rPr>
              <a:t>11 / 14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731" y="812732"/>
            <a:ext cx="10883447" cy="238778"/>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F6FED"/>
                </a:solidFill>
                <a:latin typeface="JetBrains Mono" pitchFamily="49" charset="0"/>
                <a:ea typeface="JetBrains Mono" pitchFamily="49" charset="-122"/>
                <a:cs typeface="JetBrains Mono" pitchFamily="49" charset="-120"/>
              </a:rPr>
              <a:t>ENVIRONNEMENT DE DEV</a:t>
            </a:r>
            <a:endParaRPr lang="en-US" sz="1200" dirty="0"/>
          </a:p>
        </p:txBody>
      </p:sp>
      <p:sp>
        <p:nvSpPr>
          <p:cNvPr id="3" name="Text 1"/>
          <p:cNvSpPr/>
          <p:nvPr>
            <p:ph type="title"/>
          </p:nvPr>
        </p:nvSpPr>
        <p:spPr>
          <a:xfrm>
            <a:off x="812731" y="1102277"/>
            <a:ext cx="10883447" cy="472415"/>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Un stack de dev en surcharge</a:t>
            </a:r>
            <a:endParaRPr lang="en-US" sz="3200" dirty="0"/>
          </a:p>
        </p:txBody>
      </p:sp>
      <p:sp>
        <p:nvSpPr>
          <p:cNvPr id="4" name="Text 2"/>
          <p:cNvSpPr/>
          <p:nvPr/>
        </p:nvSpPr>
        <p:spPr>
          <a:xfrm>
            <a:off x="812731" y="1803276"/>
            <a:ext cx="10566453" cy="467274"/>
          </a:xfrm>
          <a:prstGeom prst="roundRect">
            <a:avLst>
              <a:gd name="adj" fmla="val 21743"/>
            </a:avLst>
          </a:prstGeom>
          <a:solidFill>
            <a:srgbClr val="0F1B2D"/>
          </a:solidFill>
          <a:ln/>
        </p:spPr>
        <p:txBody>
          <a:bodyPr wrap="square" lIns="198836" tIns="97242" rIns="0" bIns="71739" rtlCol="0" anchor="t">
            <a:normAutofit/>
          </a:bodyPr>
          <a:lstStyle/>
          <a:p>
            <a:pPr algn="l" indent="0" marL="0">
              <a:lnSpc>
                <a:spcPts val="1680"/>
              </a:lnSpc>
              <a:buNone/>
            </a:pPr>
            <a:r>
              <a:rPr lang="en-US" sz="1200" dirty="0">
                <a:solidFill>
                  <a:srgbClr val="7FA8FF"/>
                </a:solidFill>
                <a:latin typeface="JetBrains Mono" pitchFamily="49" charset="0"/>
                <a:ea typeface="JetBrains Mono" pitchFamily="49" charset="-122"/>
                <a:cs typeface="JetBrains Mono" pitchFamily="49" charset="-120"/>
              </a:rPr>
              <a:t>$</a:t>
            </a:r>
            <a:r>
              <a:rPr lang="en-US" sz="1200" dirty="0">
                <a:solidFill>
                  <a:srgbClr val="E6EDF7"/>
                </a:solidFill>
                <a:latin typeface="JetBrains Mono" pitchFamily="49" charset="0"/>
                <a:ea typeface="JetBrains Mono" pitchFamily="49" charset="-122"/>
                <a:cs typeface="JetBrains Mono" pitchFamily="49" charset="-120"/>
              </a:rPr>
              <a:t> docker compose -f docker-compose.yml -f docker-compose.dev.yml up --build </a:t>
            </a:r>
            <a:r>
              <a:rPr lang="en-US" sz="1200" dirty="0">
                <a:solidFill>
                  <a:srgbClr val="F2B37A"/>
                </a:solidFill>
                <a:latin typeface="JetBrains Mono" pitchFamily="49" charset="0"/>
                <a:ea typeface="JetBrains Mono" pitchFamily="49" charset="-122"/>
                <a:cs typeface="JetBrains Mono" pitchFamily="49" charset="-120"/>
              </a:rPr>
              <a:t>--watch</a:t>
            </a:r>
            <a:endParaRPr lang="en-US" sz="1200" dirty="0"/>
          </a:p>
        </p:txBody>
      </p:sp>
      <p:sp>
        <p:nvSpPr>
          <p:cNvPr id="5" name="Shape 3"/>
          <p:cNvSpPr/>
          <p:nvPr/>
        </p:nvSpPr>
        <p:spPr>
          <a:xfrm>
            <a:off x="819081" y="2530884"/>
            <a:ext cx="3543246" cy="664822"/>
          </a:xfrm>
          <a:prstGeom prst="roundRect">
            <a:avLst>
              <a:gd name="adj" fmla="val 12417"/>
            </a:avLst>
          </a:prstGeom>
          <a:solidFill>
            <a:srgbClr val="FDFDFC"/>
          </a:solidFill>
          <a:ln w="12700">
            <a:solidFill>
              <a:srgbClr val="C9D3E0"/>
            </a:solidFill>
            <a:prstDash val="solid"/>
          </a:ln>
        </p:spPr>
      </p:sp>
      <p:sp>
        <p:nvSpPr>
          <p:cNvPr id="6" name="Text 4"/>
          <p:cNvSpPr/>
          <p:nvPr/>
        </p:nvSpPr>
        <p:spPr>
          <a:xfrm>
            <a:off x="1001588" y="2637222"/>
            <a:ext cx="3273578" cy="23877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2D"/>
                </a:solidFill>
                <a:latin typeface="JetBrains Mono" pitchFamily="49" charset="0"/>
                <a:ea typeface="JetBrains Mono" pitchFamily="49" charset="-122"/>
                <a:cs typeface="JetBrains Mono" pitchFamily="49" charset="-120"/>
              </a:rPr>
              <a:t>docker-compose.yml</a:t>
            </a:r>
            <a:endParaRPr lang="en-US" sz="1200" dirty="0"/>
          </a:p>
        </p:txBody>
      </p:sp>
      <p:sp>
        <p:nvSpPr>
          <p:cNvPr id="7" name="Text 5"/>
          <p:cNvSpPr/>
          <p:nvPr/>
        </p:nvSpPr>
        <p:spPr>
          <a:xfrm>
            <a:off x="1001588" y="2875992"/>
            <a:ext cx="3273578"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IBM Plex Sans" pitchFamily="34" charset="0"/>
                <a:ea typeface="IBM Plex Sans" pitchFamily="34" charset="-122"/>
                <a:cs typeface="IBM Plex Sans" pitchFamily="34" charset="-120"/>
              </a:rPr>
              <a:t>la référence de production</a:t>
            </a:r>
            <a:endParaRPr lang="en-US" sz="1200" dirty="0"/>
          </a:p>
        </p:txBody>
      </p:sp>
      <p:sp>
        <p:nvSpPr>
          <p:cNvPr id="8" name="Text 6"/>
          <p:cNvSpPr/>
          <p:nvPr/>
        </p:nvSpPr>
        <p:spPr>
          <a:xfrm>
            <a:off x="2508090" y="3278225"/>
            <a:ext cx="165141" cy="292079"/>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2F6FED"/>
                </a:solidFill>
                <a:latin typeface="IBM Plex Sans" pitchFamily="34" charset="0"/>
                <a:ea typeface="IBM Plex Sans" pitchFamily="34" charset="-122"/>
                <a:cs typeface="IBM Plex Sans" pitchFamily="34" charset="-120"/>
              </a:rPr>
              <a:t>+</a:t>
            </a:r>
            <a:endParaRPr lang="en-US" sz="1500" dirty="0"/>
          </a:p>
        </p:txBody>
      </p:sp>
      <p:sp>
        <p:nvSpPr>
          <p:cNvPr id="9" name="Shape 7"/>
          <p:cNvSpPr/>
          <p:nvPr/>
        </p:nvSpPr>
        <p:spPr>
          <a:xfrm>
            <a:off x="819081" y="3627425"/>
            <a:ext cx="3543246" cy="664822"/>
          </a:xfrm>
          <a:prstGeom prst="roundRect">
            <a:avLst>
              <a:gd name="adj" fmla="val 12417"/>
            </a:avLst>
          </a:prstGeom>
          <a:solidFill>
            <a:srgbClr val="EAF1FE"/>
          </a:solidFill>
          <a:ln w="12700">
            <a:solidFill>
              <a:srgbClr val="2F6FED"/>
            </a:solidFill>
            <a:prstDash val="solid"/>
          </a:ln>
        </p:spPr>
      </p:sp>
      <p:sp>
        <p:nvSpPr>
          <p:cNvPr id="10" name="Text 8"/>
          <p:cNvSpPr/>
          <p:nvPr/>
        </p:nvSpPr>
        <p:spPr>
          <a:xfrm>
            <a:off x="1001588" y="3733763"/>
            <a:ext cx="3273578" cy="23877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2D"/>
                </a:solidFill>
                <a:latin typeface="JetBrains Mono" pitchFamily="49" charset="0"/>
                <a:ea typeface="JetBrains Mono" pitchFamily="49" charset="-122"/>
                <a:cs typeface="JetBrains Mono" pitchFamily="49" charset="-120"/>
              </a:rPr>
              <a:t>docker-compose.dev.yml</a:t>
            </a:r>
            <a:endParaRPr lang="en-US" sz="1200" dirty="0"/>
          </a:p>
        </p:txBody>
      </p:sp>
      <p:sp>
        <p:nvSpPr>
          <p:cNvPr id="11" name="Text 9"/>
          <p:cNvSpPr/>
          <p:nvPr/>
        </p:nvSpPr>
        <p:spPr>
          <a:xfrm>
            <a:off x="1001588" y="3972527"/>
            <a:ext cx="3273578"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IBM Plex Sans" pitchFamily="34" charset="0"/>
                <a:ea typeface="IBM Plex Sans" pitchFamily="34" charset="-122"/>
                <a:cs typeface="IBM Plex Sans" pitchFamily="34" charset="-120"/>
              </a:rPr>
              <a:t>uniquement les différences</a:t>
            </a:r>
            <a:endParaRPr lang="en-US" sz="1200" dirty="0"/>
          </a:p>
        </p:txBody>
      </p:sp>
      <p:pic>
        <p:nvPicPr>
          <p:cNvPr id="12" name="Image 0" descr="arrow-down">    </p:cNvPr>
          <p:cNvPicPr>
            <a:picLocks noChangeAspect="1"/>
          </p:cNvPicPr>
          <p:nvPr/>
        </p:nvPicPr>
        <p:blipFill>
          <a:blip r:embed="rId1"/>
          <a:srcRect l="-5" r="-5" t="0" b="0"/>
          <a:stretch/>
        </p:blipFill>
        <p:spPr>
          <a:xfrm>
            <a:off x="2463668" y="4374766"/>
            <a:ext cx="253984" cy="355542"/>
          </a:xfrm>
          <a:prstGeom prst="rect">
            <a:avLst/>
          </a:prstGeom>
        </p:spPr>
      </p:pic>
      <p:sp>
        <p:nvSpPr>
          <p:cNvPr id="13" name="Text 10"/>
          <p:cNvSpPr/>
          <p:nvPr/>
        </p:nvSpPr>
        <p:spPr>
          <a:xfrm>
            <a:off x="812731" y="4806479"/>
            <a:ext cx="3555946" cy="736475"/>
          </a:xfrm>
          <a:prstGeom prst="roundRect">
            <a:avLst>
              <a:gd name="adj" fmla="val 12071"/>
            </a:avLst>
          </a:prstGeom>
          <a:solidFill>
            <a:srgbClr val="0F1B2D"/>
          </a:solidFill>
          <a:ln/>
        </p:spPr>
        <p:txBody>
          <a:bodyPr wrap="square" lIns="151690" tIns="75562" rIns="55675" bIns="50080" rtlCol="0" anchor="t">
            <a:normAutofit/>
          </a:bodyPr>
          <a:lstStyle/>
          <a:p>
            <a:pPr algn="l" indent="0" marL="0">
              <a:lnSpc>
                <a:spcPts val="2100"/>
              </a:lnSpc>
              <a:buNone/>
            </a:pPr>
            <a:r>
              <a:rPr lang="en-US" sz="1500" b="1" dirty="0">
                <a:solidFill>
                  <a:srgbClr val="F5F7FA"/>
                </a:solidFill>
                <a:latin typeface="IBM Plex Sans" pitchFamily="34" charset="0"/>
                <a:ea typeface="IBM Plex Sans" pitchFamily="34" charset="-122"/>
                <a:cs typeface="IBM Plex Sans" pitchFamily="34" charset="-120"/>
              </a:rPr>
              <a:t>Stack de dev, fusionnée par Compose</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735349" y="2535664"/>
          <a:ext cx="6643835" cy="1324437"/>
        </p:xfrm>
        <a:graphic>
          <a:graphicData uri="http://schemas.openxmlformats.org/drawingml/2006/table">
            <a:tbl>
              <a:tblPr/>
              <a:tblGrid>
                <a:gridCol w="2790411"/>
                <a:gridCol w="1594520"/>
                <a:gridCol w="2258904"/>
              </a:tblGrid>
              <a:tr h="331109">
                <a:tc>
                  <a:txBody>
                    <a:bodyPr/>
                    <a:lstStyle/>
                    <a:p>
                      <a:pPr indent="0" marL="0">
                        <a:lnSpc>
                          <a:spcPts val="1680"/>
                        </a:lnSpc>
                        <a:buNone/>
                      </a:pPr>
                      <a:r>
                        <a:rPr lang="en-US" sz="1200" b="1" dirty="0">
                          <a:solidFill>
                            <a:srgbClr val="0F1B2D"/>
                          </a:solidFill>
                          <a:latin typeface="IBM Plex Sans" pitchFamily="34" charset="0"/>
                          <a:ea typeface="IBM Plex Sans" pitchFamily="34" charset="-122"/>
                          <a:cs typeface="IBM Plex Sans" pitchFamily="34" charset="-120"/>
                        </a:rPr>
                        <a:t>Fichier modifié</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3E5E8"/>
                    </a:solidFill>
                  </a:tcPr>
                </a:tc>
                <a:tc>
                  <a:txBody>
                    <a:bodyPr/>
                    <a:lstStyle/>
                    <a:p>
                      <a:pPr indent="0" marL="0">
                        <a:lnSpc>
                          <a:spcPts val="1680"/>
                        </a:lnSpc>
                        <a:buNone/>
                      </a:pPr>
                      <a:r>
                        <a:rPr lang="en-US" sz="1200" b="1" dirty="0">
                          <a:solidFill>
                            <a:srgbClr val="0F1B2D"/>
                          </a:solidFill>
                          <a:latin typeface="IBM Plex Sans" pitchFamily="34" charset="0"/>
                          <a:ea typeface="IBM Plex Sans" pitchFamily="34" charset="-122"/>
                          <a:cs typeface="IBM Plex Sans" pitchFamily="34" charset="-120"/>
                        </a:rPr>
                        <a:t>Watch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7B9"/>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3E5E8"/>
                    </a:solidFill>
                  </a:tcPr>
                </a:tc>
                <a:tc>
                  <a:txBody>
                    <a:bodyPr/>
                    <a:lstStyle/>
                    <a:p>
                      <a:pPr indent="0" marL="0">
                        <a:lnSpc>
                          <a:spcPts val="1680"/>
                        </a:lnSpc>
                        <a:buNone/>
                      </a:pPr>
                      <a:r>
                        <a:rPr lang="en-US" sz="1200" b="1" dirty="0">
                          <a:solidFill>
                            <a:srgbClr val="0F1B2D"/>
                          </a:solidFill>
                          <a:latin typeface="IBM Plex Sans" pitchFamily="34" charset="0"/>
                          <a:ea typeface="IBM Plex Sans" pitchFamily="34" charset="-122"/>
                          <a:cs typeface="IBM Plex Sans" pitchFamily="34" charset="-120"/>
                        </a:rPr>
                        <a:t>Effet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7B9"/>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3E5E8"/>
                    </a:solidFill>
                  </a:tcPr>
                </a:tc>
              </a:tr>
              <a:tr h="331109">
                <a:tc>
                  <a:txBody>
                    <a:bodyPr/>
                    <a:lstStyle/>
                    <a:p>
                      <a:pP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nginx/nginx.conf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sync+restart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Nginx rechargé</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r>
              <a:tr h="331109">
                <a:tc>
                  <a:txBody>
                    <a:bodyPr/>
                    <a:lstStyle/>
                    <a:p>
                      <a:pP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status/config.yaml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sync+restart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Gatus rechargé</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r>
              <a:tr h="331109">
                <a:tc>
                  <a:txBody>
                    <a:bodyPr/>
                    <a:lstStyle/>
                    <a:p>
                      <a:pP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bridge/src/*.ts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rebuild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c>
                  <a:txBody>
                    <a:bodyPr/>
                    <a:lstStyle/>
                    <a:p>
                      <a:pP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nouveau build multi-stage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4C5C7"/>
                      </a:solidFill>
                      <a:prstDash val="solid"/>
                      <a:round/>
                      <a:headEnd type="none" w="med" len="med"/>
                      <a:tailEnd type="none" w="med" len="med"/>
                    </a:lnB>
                  </a:tcPr>
                </a:tc>
              </a:tr>
            </a:tbl>
          </a:graphicData>
        </a:graphic>
      </p:graphicFrame>
      <p:sp>
        <p:nvSpPr>
          <p:cNvPr id="15" name="Text 11"/>
          <p:cNvSpPr/>
          <p:nvPr/>
        </p:nvSpPr>
        <p:spPr>
          <a:xfrm>
            <a:off x="4730569" y="4018787"/>
            <a:ext cx="1608240" cy="324496"/>
          </a:xfrm>
          <a:prstGeom prst="roundRect">
            <a:avLst>
              <a:gd name="adj" fmla="val 50000"/>
            </a:avLst>
          </a:prstGeom>
          <a:solidFill>
            <a:srgbClr val="FDFDFC"/>
          </a:solidFill>
          <a:ln w="12700">
            <a:solidFill>
              <a:srgbClr val="DCE2EA"/>
            </a:solidFill>
            <a:prstDash val="solid"/>
          </a:ln>
        </p:spPr>
        <p:txBody>
          <a:bodyPr wrap="none" lIns="0" tIns="0" rIns="0" bIns="0" rtlCol="0" anchor="ctr">
            <a:normAutofit/>
          </a:bodyPr>
          <a:lstStyle/>
          <a:p>
            <a:pPr algn="ct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ports sur 127.0.0.1</a:t>
            </a:r>
            <a:endParaRPr lang="en-US" sz="1200" dirty="0"/>
          </a:p>
        </p:txBody>
      </p:sp>
      <p:sp>
        <p:nvSpPr>
          <p:cNvPr id="16" name="Text 12"/>
          <p:cNvSpPr/>
          <p:nvPr/>
        </p:nvSpPr>
        <p:spPr>
          <a:xfrm>
            <a:off x="6453068" y="4018787"/>
            <a:ext cx="1844398" cy="324496"/>
          </a:xfrm>
          <a:prstGeom prst="roundRect">
            <a:avLst>
              <a:gd name="adj" fmla="val 50000"/>
            </a:avLst>
          </a:prstGeom>
          <a:solidFill>
            <a:srgbClr val="FDFDFC"/>
          </a:solidFill>
          <a:ln w="12700">
            <a:solidFill>
              <a:srgbClr val="DCE2EA"/>
            </a:solidFill>
            <a:prstDash val="solid"/>
          </a:ln>
        </p:spPr>
        <p:txBody>
          <a:bodyPr wrap="none" lIns="0" tIns="0" rIns="0" bIns="0" rtlCol="0" anchor="ctr">
            <a:normAutofit/>
          </a:bodyPr>
          <a:lstStyle/>
          <a:p>
            <a:pPr algn="ct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backend internal: false</a:t>
            </a:r>
            <a:endParaRPr lang="en-US" sz="1200" dirty="0"/>
          </a:p>
        </p:txBody>
      </p:sp>
      <p:sp>
        <p:nvSpPr>
          <p:cNvPr id="17" name="Text 13"/>
          <p:cNvSpPr/>
          <p:nvPr/>
        </p:nvSpPr>
        <p:spPr>
          <a:xfrm>
            <a:off x="8411725" y="4018787"/>
            <a:ext cx="1106011" cy="324496"/>
          </a:xfrm>
          <a:prstGeom prst="roundRect">
            <a:avLst>
              <a:gd name="adj" fmla="val 50000"/>
            </a:avLst>
          </a:prstGeom>
          <a:solidFill>
            <a:srgbClr val="FDFDFC"/>
          </a:solidFill>
          <a:ln w="12700">
            <a:solidFill>
              <a:srgbClr val="DCE2EA"/>
            </a:solidFill>
            <a:prstDash val="solid"/>
          </a:ln>
        </p:spPr>
        <p:txBody>
          <a:bodyPr wrap="none" lIns="0" tIns="0" rIns="0" bIns="0" rtlCol="0" anchor="ctr">
            <a:normAutofit/>
          </a:bodyPr>
          <a:lstStyle/>
          <a:p>
            <a:pPr algn="ct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logs DEBUG</a:t>
            </a:r>
            <a:endParaRPr lang="en-US" sz="1200" dirty="0"/>
          </a:p>
        </p:txBody>
      </p:sp>
      <p:sp>
        <p:nvSpPr>
          <p:cNvPr id="18" name="Text 14"/>
          <p:cNvSpPr/>
          <p:nvPr/>
        </p:nvSpPr>
        <p:spPr>
          <a:xfrm>
            <a:off x="4730569" y="4457545"/>
            <a:ext cx="2194376" cy="324496"/>
          </a:xfrm>
          <a:prstGeom prst="roundRect">
            <a:avLst>
              <a:gd name="adj" fmla="val 50000"/>
            </a:avLst>
          </a:prstGeom>
          <a:solidFill>
            <a:srgbClr val="FDFDFC"/>
          </a:solidFill>
          <a:ln w="12700">
            <a:solidFill>
              <a:srgbClr val="DCE2EA"/>
            </a:solidFill>
            <a:prstDash val="solid"/>
          </a:ln>
        </p:spPr>
        <p:txBody>
          <a:bodyPr wrap="none" lIns="0" tIns="0" rIns="0" bIns="0" rtlCol="0" anchor="ctr">
            <a:normAutofit/>
          </a:bodyPr>
          <a:lstStyle/>
          <a:p>
            <a:pPr algn="ctr" indent="0" marL="0">
              <a:lnSpc>
                <a:spcPts val="1680"/>
              </a:lnSpc>
              <a:buNone/>
            </a:pPr>
            <a:r>
              <a:rPr lang="en-US" sz="1200" dirty="0">
                <a:solidFill>
                  <a:srgbClr val="0F1B2D"/>
                </a:solidFill>
                <a:latin typeface="IBM Plex Sans" pitchFamily="34" charset="0"/>
                <a:ea typeface="IBM Plex Sans" pitchFamily="34" charset="-122"/>
                <a:cs typeface="IBM Plex Sans" pitchFamily="34" charset="-120"/>
              </a:rPr>
              <a:t>Adminer avec --profile tools</a:t>
            </a:r>
            <a:endParaRPr lang="en-US" sz="1200" dirty="0"/>
          </a:p>
        </p:txBody>
      </p:sp>
      <p:sp>
        <p:nvSpPr>
          <p:cNvPr id="19" name="Text 15"/>
          <p:cNvSpPr/>
          <p:nvPr/>
        </p:nvSpPr>
        <p:spPr>
          <a:xfrm>
            <a:off x="812731" y="6235688"/>
            <a:ext cx="2760554" cy="24129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9"/>
                </a:solidFill>
                <a:latin typeface="IBM Plex Sans" pitchFamily="34" charset="0"/>
                <a:ea typeface="IBM Plex Sans" pitchFamily="34" charset="-122"/>
                <a:cs typeface="IBM Plex Sans" pitchFamily="34" charset="-120"/>
              </a:rPr>
              <a:t>IM Bridge · Mattermost ⇄ Discord</a:t>
            </a:r>
            <a:endParaRPr lang="en-US" sz="1200" dirty="0"/>
          </a:p>
        </p:txBody>
      </p:sp>
      <p:sp>
        <p:nvSpPr>
          <p:cNvPr id="20" name="Text 16"/>
          <p:cNvSpPr/>
          <p:nvPr/>
        </p:nvSpPr>
        <p:spPr>
          <a:xfrm>
            <a:off x="10783936" y="6235688"/>
            <a:ext cx="595162" cy="24129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9"/>
                </a:solidFill>
                <a:latin typeface="IBM Plex Sans" pitchFamily="34" charset="0"/>
                <a:ea typeface="IBM Plex Sans" pitchFamily="34" charset="-122"/>
                <a:cs typeface="IBM Plex Sans" pitchFamily="34" charset="-120"/>
              </a:rPr>
              <a:t>12 / 14</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731" y="812732"/>
            <a:ext cx="10883447" cy="238778"/>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FA8FF"/>
                </a:solidFill>
                <a:latin typeface="JetBrains Mono" pitchFamily="49" charset="0"/>
                <a:ea typeface="JetBrains Mono" pitchFamily="49" charset="-122"/>
                <a:cs typeface="JetBrains Mono" pitchFamily="49" charset="-120"/>
              </a:rPr>
              <a:t>DÉMONSTRATION · 3 MIN</a:t>
            </a:r>
            <a:endParaRPr lang="en-US" sz="1200" dirty="0"/>
          </a:p>
        </p:txBody>
      </p:sp>
      <p:sp>
        <p:nvSpPr>
          <p:cNvPr id="3" name="Text 1"/>
          <p:cNvSpPr/>
          <p:nvPr>
            <p:ph type="title"/>
          </p:nvPr>
        </p:nvSpPr>
        <p:spPr>
          <a:xfrm>
            <a:off x="812731" y="1102283"/>
            <a:ext cx="10883447" cy="472415"/>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7FA"/>
                </a:solidFill>
                <a:latin typeface="IBM Plex Sans" pitchFamily="34" charset="0"/>
                <a:ea typeface="IBM Plex Sans" pitchFamily="34" charset="-122"/>
                <a:cs typeface="IBM Plex Sans" pitchFamily="34" charset="-120"/>
              </a:rPr>
              <a:t>On passe au live</a:t>
            </a:r>
            <a:endParaRPr lang="en-US" sz="3200" dirty="0"/>
          </a:p>
        </p:txBody>
      </p:sp>
      <p:sp>
        <p:nvSpPr>
          <p:cNvPr id="4" name="Text 2"/>
          <p:cNvSpPr/>
          <p:nvPr/>
        </p:nvSpPr>
        <p:spPr>
          <a:xfrm>
            <a:off x="812731" y="1854057"/>
            <a:ext cx="279394" cy="292079"/>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FA8FF"/>
                </a:solidFill>
                <a:latin typeface="JetBrains Mono" pitchFamily="49" charset="0"/>
                <a:ea typeface="JetBrains Mono" pitchFamily="49" charset="-122"/>
                <a:cs typeface="JetBrains Mono" pitchFamily="49" charset="-120"/>
              </a:rPr>
              <a:t>01</a:t>
            </a:r>
            <a:endParaRPr lang="en-US" sz="1500" dirty="0"/>
          </a:p>
        </p:txBody>
      </p:sp>
      <p:sp>
        <p:nvSpPr>
          <p:cNvPr id="5" name="Text 3"/>
          <p:cNvSpPr/>
          <p:nvPr/>
        </p:nvSpPr>
        <p:spPr>
          <a:xfrm>
            <a:off x="1168273" y="1854057"/>
            <a:ext cx="3767967" cy="292079"/>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7FA"/>
                </a:solidFill>
                <a:latin typeface="IBM Plex Sans" pitchFamily="34" charset="0"/>
                <a:ea typeface="IBM Plex Sans" pitchFamily="34" charset="-122"/>
                <a:cs typeface="IBM Plex Sans" pitchFamily="34" charset="-120"/>
              </a:rPr>
              <a:t>docker compose ps : tout est healthy</a:t>
            </a:r>
            <a:endParaRPr lang="en-US" sz="1500" dirty="0"/>
          </a:p>
        </p:txBody>
      </p:sp>
      <p:sp>
        <p:nvSpPr>
          <p:cNvPr id="6" name="Text 4"/>
          <p:cNvSpPr/>
          <p:nvPr/>
        </p:nvSpPr>
        <p:spPr>
          <a:xfrm>
            <a:off x="812731" y="2234989"/>
            <a:ext cx="279394" cy="292079"/>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FA8FF"/>
                </a:solidFill>
                <a:latin typeface="JetBrains Mono" pitchFamily="49" charset="0"/>
                <a:ea typeface="JetBrains Mono" pitchFamily="49" charset="-122"/>
                <a:cs typeface="JetBrains Mono" pitchFamily="49" charset="-120"/>
              </a:rPr>
              <a:t>02</a:t>
            </a:r>
            <a:endParaRPr lang="en-US" sz="1500" dirty="0"/>
          </a:p>
        </p:txBody>
      </p:sp>
      <p:sp>
        <p:nvSpPr>
          <p:cNvPr id="7" name="Text 5"/>
          <p:cNvSpPr/>
          <p:nvPr/>
        </p:nvSpPr>
        <p:spPr>
          <a:xfrm>
            <a:off x="1168273" y="2234989"/>
            <a:ext cx="4265675" cy="292079"/>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7FA"/>
                </a:solidFill>
                <a:latin typeface="IBM Plex Sans" pitchFamily="34" charset="0"/>
                <a:ea typeface="IBM Plex Sans" pitchFamily="34" charset="-122"/>
                <a:cs typeface="IBM Plex Sans" pitchFamily="34" charset="-120"/>
              </a:rPr>
              <a:t>status.localhost : tous les services au vert</a:t>
            </a:r>
            <a:endParaRPr lang="en-US" sz="1500" dirty="0"/>
          </a:p>
        </p:txBody>
      </p:sp>
      <p:sp>
        <p:nvSpPr>
          <p:cNvPr id="8" name="Text 6"/>
          <p:cNvSpPr/>
          <p:nvPr/>
        </p:nvSpPr>
        <p:spPr>
          <a:xfrm>
            <a:off x="812731" y="2615921"/>
            <a:ext cx="279394" cy="292079"/>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FA8FF"/>
                </a:solidFill>
                <a:latin typeface="JetBrains Mono" pitchFamily="49" charset="0"/>
                <a:ea typeface="JetBrains Mono" pitchFamily="49" charset="-122"/>
                <a:cs typeface="JetBrains Mono" pitchFamily="49" charset="-120"/>
              </a:rPr>
              <a:t>03</a:t>
            </a:r>
            <a:endParaRPr lang="en-US" sz="1500" dirty="0"/>
          </a:p>
        </p:txBody>
      </p:sp>
      <p:sp>
        <p:nvSpPr>
          <p:cNvPr id="9" name="Text 7"/>
          <p:cNvSpPr/>
          <p:nvPr/>
        </p:nvSpPr>
        <p:spPr>
          <a:xfrm>
            <a:off x="1168273" y="2615921"/>
            <a:ext cx="4660815" cy="292079"/>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7FA"/>
                </a:solidFill>
                <a:latin typeface="IBM Plex Sans" pitchFamily="34" charset="0"/>
                <a:ea typeface="IBM Plex Sans" pitchFamily="34" charset="-122"/>
                <a:cs typeface="IBM Plex Sans" pitchFamily="34" charset="-120"/>
              </a:rPr>
              <a:t>Discord → Mattermost, avec pseudo et avatar</a:t>
            </a:r>
            <a:endParaRPr lang="en-US" sz="1500" dirty="0"/>
          </a:p>
        </p:txBody>
      </p:sp>
      <p:sp>
        <p:nvSpPr>
          <p:cNvPr id="10" name="Text 8"/>
          <p:cNvSpPr/>
          <p:nvPr/>
        </p:nvSpPr>
        <p:spPr>
          <a:xfrm>
            <a:off x="812731" y="2996853"/>
            <a:ext cx="279394" cy="292079"/>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FA8FF"/>
                </a:solidFill>
                <a:latin typeface="JetBrains Mono" pitchFamily="49" charset="0"/>
                <a:ea typeface="JetBrains Mono" pitchFamily="49" charset="-122"/>
                <a:cs typeface="JetBrains Mono" pitchFamily="49" charset="-120"/>
              </a:rPr>
              <a:t>04</a:t>
            </a:r>
            <a:endParaRPr lang="en-US" sz="1500" dirty="0"/>
          </a:p>
        </p:txBody>
      </p:sp>
      <p:sp>
        <p:nvSpPr>
          <p:cNvPr id="11" name="Text 9"/>
          <p:cNvSpPr/>
          <p:nvPr/>
        </p:nvSpPr>
        <p:spPr>
          <a:xfrm>
            <a:off x="1168273" y="2996853"/>
            <a:ext cx="4773712" cy="292079"/>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7FA"/>
                </a:solidFill>
                <a:latin typeface="IBM Plex Sans" pitchFamily="34" charset="0"/>
                <a:ea typeface="IBM Plex Sans" pitchFamily="34" charset="-122"/>
                <a:cs typeface="IBM Plex Sans" pitchFamily="34" charset="-120"/>
              </a:rPr>
              <a:t>Réponse, réaction et image depuis Mattermost</a:t>
            </a:r>
            <a:endParaRPr lang="en-US" sz="1500" dirty="0"/>
          </a:p>
        </p:txBody>
      </p:sp>
      <p:sp>
        <p:nvSpPr>
          <p:cNvPr id="12" name="Text 10"/>
          <p:cNvSpPr/>
          <p:nvPr/>
        </p:nvSpPr>
        <p:spPr>
          <a:xfrm>
            <a:off x="812731" y="3377785"/>
            <a:ext cx="279394" cy="292079"/>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FA8FF"/>
                </a:solidFill>
                <a:latin typeface="JetBrains Mono" pitchFamily="49" charset="0"/>
                <a:ea typeface="JetBrains Mono" pitchFamily="49" charset="-122"/>
                <a:cs typeface="JetBrains Mono" pitchFamily="49" charset="-120"/>
              </a:rPr>
              <a:t>05</a:t>
            </a:r>
            <a:endParaRPr lang="en-US" sz="1500" dirty="0"/>
          </a:p>
        </p:txBody>
      </p:sp>
      <p:sp>
        <p:nvSpPr>
          <p:cNvPr id="13" name="Text 11"/>
          <p:cNvSpPr/>
          <p:nvPr/>
        </p:nvSpPr>
        <p:spPr>
          <a:xfrm>
            <a:off x="1168273" y="3377785"/>
            <a:ext cx="3677504" cy="292079"/>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7FA"/>
                </a:solidFill>
                <a:latin typeface="IBM Plex Sans" pitchFamily="34" charset="0"/>
                <a:ea typeface="IBM Plex Sans" pitchFamily="34" charset="-122"/>
                <a:cs typeface="IBM Plex Sans" pitchFamily="34" charset="-120"/>
              </a:rPr>
              <a:t>!sondage, puis votes des deux côtés</a:t>
            </a:r>
            <a:endParaRPr lang="en-US" sz="1500" dirty="0"/>
          </a:p>
        </p:txBody>
      </p:sp>
      <p:sp>
        <p:nvSpPr>
          <p:cNvPr id="14" name="Shape 12"/>
          <p:cNvSpPr/>
          <p:nvPr/>
        </p:nvSpPr>
        <p:spPr>
          <a:xfrm>
            <a:off x="7442219" y="1854057"/>
            <a:ext cx="3936965" cy="2047086"/>
          </a:xfrm>
          <a:prstGeom prst="roundRect">
            <a:avLst>
              <a:gd name="adj" fmla="val 5584"/>
            </a:avLst>
          </a:prstGeom>
          <a:solidFill>
            <a:srgbClr val="1B2B44"/>
          </a:solidFill>
          <a:ln/>
        </p:spPr>
      </p:sp>
      <p:sp>
        <p:nvSpPr>
          <p:cNvPr id="15" name="Text 13"/>
          <p:cNvSpPr/>
          <p:nvPr/>
        </p:nvSpPr>
        <p:spPr>
          <a:xfrm>
            <a:off x="7670813" y="2082651"/>
            <a:ext cx="3584170" cy="25399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7FA"/>
                </a:solidFill>
                <a:latin typeface="IBM Plex Sans" pitchFamily="34" charset="0"/>
                <a:ea typeface="IBM Plex Sans" pitchFamily="34" charset="-122"/>
                <a:cs typeface="IBM Plex Sans" pitchFamily="34" charset="-120"/>
              </a:rPr>
              <a:t>Si on a 30 secondes de plus</a:t>
            </a:r>
            <a:endParaRPr lang="en-US" sz="1500" dirty="0"/>
          </a:p>
        </p:txBody>
      </p:sp>
      <p:sp>
        <p:nvSpPr>
          <p:cNvPr id="16" name="Text 14"/>
          <p:cNvSpPr/>
          <p:nvPr/>
        </p:nvSpPr>
        <p:spPr>
          <a:xfrm>
            <a:off x="7670813" y="2438195"/>
            <a:ext cx="3584170"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docker compose config</a:t>
            </a:r>
            <a:endParaRPr lang="en-US" sz="1200" dirty="0"/>
          </a:p>
        </p:txBody>
      </p:sp>
      <p:sp>
        <p:nvSpPr>
          <p:cNvPr id="17" name="Text 15"/>
          <p:cNvSpPr/>
          <p:nvPr/>
        </p:nvSpPr>
        <p:spPr>
          <a:xfrm>
            <a:off x="7670813" y="2778522"/>
            <a:ext cx="3708371"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docker network inspect docker_backend</a:t>
            </a:r>
            <a:endParaRPr lang="en-US" sz="1200" dirty="0"/>
          </a:p>
        </p:txBody>
      </p:sp>
      <p:sp>
        <p:nvSpPr>
          <p:cNvPr id="18" name="Text 16"/>
          <p:cNvSpPr/>
          <p:nvPr/>
        </p:nvSpPr>
        <p:spPr>
          <a:xfrm>
            <a:off x="7670813" y="3118848"/>
            <a:ext cx="3584170"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docker stats --no-stream</a:t>
            </a:r>
            <a:endParaRPr lang="en-US" sz="1200" dirty="0"/>
          </a:p>
        </p:txBody>
      </p:sp>
      <p:sp>
        <p:nvSpPr>
          <p:cNvPr id="19" name="Text 17"/>
          <p:cNvSpPr/>
          <p:nvPr/>
        </p:nvSpPr>
        <p:spPr>
          <a:xfrm>
            <a:off x="7670813" y="3459175"/>
            <a:ext cx="3584170"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docker image ls</a:t>
            </a:r>
            <a:endParaRPr lang="en-US" sz="1200" dirty="0"/>
          </a:p>
        </p:txBody>
      </p:sp>
      <p:sp>
        <p:nvSpPr>
          <p:cNvPr id="20" name="Text 18"/>
          <p:cNvSpPr/>
          <p:nvPr/>
        </p:nvSpPr>
        <p:spPr>
          <a:xfrm>
            <a:off x="812731" y="6235688"/>
            <a:ext cx="2760554" cy="24129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C0D3"/>
                </a:solidFill>
                <a:latin typeface="IBM Plex Sans" pitchFamily="34" charset="0"/>
                <a:ea typeface="IBM Plex Sans" pitchFamily="34" charset="-122"/>
                <a:cs typeface="IBM Plex Sans" pitchFamily="34" charset="-120"/>
              </a:rPr>
              <a:t>IM Bridge · Mattermost ⇄ Discord</a:t>
            </a:r>
            <a:endParaRPr lang="en-US" sz="1200" dirty="0"/>
          </a:p>
        </p:txBody>
      </p:sp>
      <p:sp>
        <p:nvSpPr>
          <p:cNvPr id="21" name="Text 19"/>
          <p:cNvSpPr/>
          <p:nvPr/>
        </p:nvSpPr>
        <p:spPr>
          <a:xfrm>
            <a:off x="10783936" y="6235688"/>
            <a:ext cx="595162" cy="24129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4C0D3"/>
                </a:solidFill>
                <a:latin typeface="IBM Plex Sans" pitchFamily="34" charset="0"/>
                <a:ea typeface="IBM Plex Sans" pitchFamily="34" charset="-122"/>
                <a:cs typeface="IBM Plex Sans" pitchFamily="34" charset="-120"/>
              </a:rPr>
              <a:t>13 / 14</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731" y="812732"/>
            <a:ext cx="10883447" cy="238778"/>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F6FED"/>
                </a:solidFill>
                <a:latin typeface="JetBrains Mono" pitchFamily="49" charset="0"/>
                <a:ea typeface="JetBrains Mono" pitchFamily="49" charset="-122"/>
                <a:cs typeface="JetBrains Mono" pitchFamily="49" charset="-120"/>
              </a:rPr>
              <a:t>BILAN</a:t>
            </a:r>
            <a:endParaRPr lang="en-US" sz="1200" dirty="0"/>
          </a:p>
        </p:txBody>
      </p:sp>
      <p:sp>
        <p:nvSpPr>
          <p:cNvPr id="3" name="Text 1"/>
          <p:cNvSpPr/>
          <p:nvPr>
            <p:ph type="title"/>
          </p:nvPr>
        </p:nvSpPr>
        <p:spPr>
          <a:xfrm>
            <a:off x="812731" y="1102277"/>
            <a:ext cx="10883447" cy="472415"/>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Ce que couvre le projet</a:t>
            </a:r>
            <a:endParaRPr lang="en-US" sz="3200" dirty="0"/>
          </a:p>
        </p:txBody>
      </p:sp>
      <p:pic>
        <p:nvPicPr>
          <p:cNvPr id="4" name="Image 0" descr="CheckCircle">    </p:cNvPr>
          <p:cNvPicPr>
            <a:picLocks noChangeAspect="1"/>
          </p:cNvPicPr>
          <p:nvPr/>
        </p:nvPicPr>
        <p:blipFill>
          <a:blip r:embed="rId1"/>
          <a:srcRect l="0" r="0" t="0" b="0"/>
          <a:stretch/>
        </p:blipFill>
        <p:spPr>
          <a:xfrm>
            <a:off x="812731" y="1873095"/>
            <a:ext cx="228594" cy="228594"/>
          </a:xfrm>
          <a:prstGeom prst="rect">
            <a:avLst/>
          </a:prstGeom>
        </p:spPr>
      </p:pic>
      <p:sp>
        <p:nvSpPr>
          <p:cNvPr id="5" name="Text 2"/>
          <p:cNvSpPr/>
          <p:nvPr/>
        </p:nvSpPr>
        <p:spPr>
          <a:xfrm>
            <a:off x="1142883" y="1854051"/>
            <a:ext cx="4604366" cy="292079"/>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Mattermost, PostgreSQL et un bridge Discord</a:t>
            </a:r>
            <a:endParaRPr lang="en-US" sz="1500" dirty="0"/>
          </a:p>
        </p:txBody>
      </p:sp>
      <p:pic>
        <p:nvPicPr>
          <p:cNvPr id="6" name="Image 1" descr="CheckCircle">    </p:cNvPr>
          <p:cNvPicPr>
            <a:picLocks noChangeAspect="1"/>
          </p:cNvPicPr>
          <p:nvPr/>
        </p:nvPicPr>
        <p:blipFill>
          <a:blip r:embed="rId2"/>
          <a:srcRect l="0" r="0" t="0" b="0"/>
          <a:stretch/>
        </p:blipFill>
        <p:spPr>
          <a:xfrm>
            <a:off x="812731" y="2228639"/>
            <a:ext cx="228594" cy="228594"/>
          </a:xfrm>
          <a:prstGeom prst="rect">
            <a:avLst/>
          </a:prstGeom>
        </p:spPr>
      </p:pic>
      <p:sp>
        <p:nvSpPr>
          <p:cNvPr id="7" name="Text 3"/>
          <p:cNvSpPr/>
          <p:nvPr/>
        </p:nvSpPr>
        <p:spPr>
          <a:xfrm>
            <a:off x="1142883" y="2209595"/>
            <a:ext cx="4688987" cy="292079"/>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Installation : un .env, puis docker compose up</a:t>
            </a:r>
            <a:endParaRPr lang="en-US" sz="1500" dirty="0"/>
          </a:p>
        </p:txBody>
      </p:sp>
      <p:pic>
        <p:nvPicPr>
          <p:cNvPr id="8" name="Image 2" descr="CheckCircle">    </p:cNvPr>
          <p:cNvPicPr>
            <a:picLocks noChangeAspect="1"/>
          </p:cNvPicPr>
          <p:nvPr/>
        </p:nvPicPr>
        <p:blipFill>
          <a:blip r:embed="rId3"/>
          <a:srcRect l="0" r="0" t="0" b="0"/>
          <a:stretch/>
        </p:blipFill>
        <p:spPr>
          <a:xfrm>
            <a:off x="812731" y="2584183"/>
            <a:ext cx="228594" cy="228594"/>
          </a:xfrm>
          <a:prstGeom prst="rect">
            <a:avLst/>
          </a:prstGeom>
        </p:spPr>
      </p:pic>
      <p:sp>
        <p:nvSpPr>
          <p:cNvPr id="9" name="Text 4"/>
          <p:cNvSpPr/>
          <p:nvPr/>
        </p:nvSpPr>
        <p:spPr>
          <a:xfrm>
            <a:off x="1142883" y="2565140"/>
            <a:ext cx="4645268" cy="292079"/>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Variables obligatoires, par défaut, construites</a:t>
            </a:r>
            <a:endParaRPr lang="en-US" sz="1500" dirty="0"/>
          </a:p>
        </p:txBody>
      </p:sp>
      <p:pic>
        <p:nvPicPr>
          <p:cNvPr id="10" name="Image 3" descr="CheckCircle">    </p:cNvPr>
          <p:cNvPicPr>
            <a:picLocks noChangeAspect="1"/>
          </p:cNvPicPr>
          <p:nvPr/>
        </p:nvPicPr>
        <p:blipFill>
          <a:blip r:embed="rId4"/>
          <a:srcRect l="0" r="0" t="0" b="0"/>
          <a:stretch/>
        </p:blipFill>
        <p:spPr>
          <a:xfrm>
            <a:off x="812731" y="2939721"/>
            <a:ext cx="228594" cy="228594"/>
          </a:xfrm>
          <a:prstGeom prst="rect">
            <a:avLst/>
          </a:prstGeom>
        </p:spPr>
      </p:pic>
      <p:sp>
        <p:nvSpPr>
          <p:cNvPr id="11" name="Text 5"/>
          <p:cNvSpPr/>
          <p:nvPr/>
        </p:nvSpPr>
        <p:spPr>
          <a:xfrm>
            <a:off x="1142883" y="2920684"/>
            <a:ext cx="3675208" cy="292079"/>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Réseaux isolés et conteneurs durcis</a:t>
            </a:r>
            <a:endParaRPr lang="en-US" sz="1500" dirty="0"/>
          </a:p>
        </p:txBody>
      </p:sp>
      <p:pic>
        <p:nvPicPr>
          <p:cNvPr id="12" name="Image 4" descr="CheckCircle">    </p:cNvPr>
          <p:cNvPicPr>
            <a:picLocks noChangeAspect="1"/>
          </p:cNvPicPr>
          <p:nvPr/>
        </p:nvPicPr>
        <p:blipFill>
          <a:blip r:embed="rId5"/>
          <a:srcRect l="0" r="0" t="0" b="0"/>
          <a:stretch/>
        </p:blipFill>
        <p:spPr>
          <a:xfrm>
            <a:off x="812731" y="3295266"/>
            <a:ext cx="228594" cy="228594"/>
          </a:xfrm>
          <a:prstGeom prst="rect">
            <a:avLst/>
          </a:prstGeom>
        </p:spPr>
      </p:pic>
      <p:sp>
        <p:nvSpPr>
          <p:cNvPr id="13" name="Text 6"/>
          <p:cNvSpPr/>
          <p:nvPr/>
        </p:nvSpPr>
        <p:spPr>
          <a:xfrm>
            <a:off x="1142883" y="3276222"/>
            <a:ext cx="3691381" cy="292079"/>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Images modifiées, build multi-stage</a:t>
            </a:r>
            <a:endParaRPr lang="en-US" sz="1500" dirty="0"/>
          </a:p>
        </p:txBody>
      </p:sp>
      <p:pic>
        <p:nvPicPr>
          <p:cNvPr id="14" name="Image 5" descr="CheckCircle">    </p:cNvPr>
          <p:cNvPicPr>
            <a:picLocks noChangeAspect="1"/>
          </p:cNvPicPr>
          <p:nvPr/>
        </p:nvPicPr>
        <p:blipFill>
          <a:blip r:embed="rId6"/>
          <a:srcRect l="0" r="0" t="0" b="0"/>
          <a:stretch/>
        </p:blipFill>
        <p:spPr>
          <a:xfrm>
            <a:off x="812731" y="3650810"/>
            <a:ext cx="228594" cy="228594"/>
          </a:xfrm>
          <a:prstGeom prst="rect">
            <a:avLst/>
          </a:prstGeom>
        </p:spPr>
      </p:pic>
      <p:sp>
        <p:nvSpPr>
          <p:cNvPr id="15" name="Text 7"/>
          <p:cNvSpPr/>
          <p:nvPr/>
        </p:nvSpPr>
        <p:spPr>
          <a:xfrm>
            <a:off x="1142883" y="3631766"/>
            <a:ext cx="3552920" cy="292079"/>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Stack de dev avec Compose Watch</a:t>
            </a:r>
            <a:endParaRPr lang="en-US" sz="1500" dirty="0"/>
          </a:p>
        </p:txBody>
      </p:sp>
      <p:pic>
        <p:nvPicPr>
          <p:cNvPr id="16" name="Image 6" descr="CheckCircle">    </p:cNvPr>
          <p:cNvPicPr>
            <a:picLocks noChangeAspect="1"/>
          </p:cNvPicPr>
          <p:nvPr/>
        </p:nvPicPr>
        <p:blipFill>
          <a:blip r:embed="rId7"/>
          <a:srcRect l="0" r="0" t="0" b="0"/>
          <a:stretch/>
        </p:blipFill>
        <p:spPr>
          <a:xfrm>
            <a:off x="812731" y="4006348"/>
            <a:ext cx="228594" cy="228594"/>
          </a:xfrm>
          <a:prstGeom prst="rect">
            <a:avLst/>
          </a:prstGeom>
        </p:spPr>
      </p:pic>
      <p:sp>
        <p:nvSpPr>
          <p:cNvPr id="17" name="Text 8"/>
          <p:cNvSpPr/>
          <p:nvPr/>
        </p:nvSpPr>
        <p:spPr>
          <a:xfrm>
            <a:off x="1142883" y="3987310"/>
            <a:ext cx="2325451" cy="292079"/>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Cgroups, healthchecks</a:t>
            </a:r>
            <a:endParaRPr lang="en-US" sz="1500" dirty="0"/>
          </a:p>
        </p:txBody>
      </p:sp>
      <p:sp>
        <p:nvSpPr>
          <p:cNvPr id="18" name="Shape 9"/>
          <p:cNvSpPr/>
          <p:nvPr/>
        </p:nvSpPr>
        <p:spPr>
          <a:xfrm>
            <a:off x="7575604" y="1860401"/>
            <a:ext cx="3797230" cy="1787272"/>
          </a:xfrm>
          <a:prstGeom prst="roundRect">
            <a:avLst>
              <a:gd name="adj" fmla="val 6040"/>
            </a:avLst>
          </a:prstGeom>
          <a:solidFill>
            <a:srgbClr val="FDFDFC"/>
          </a:solidFill>
          <a:ln w="12700">
            <a:solidFill>
              <a:srgbClr val="DCE2EA"/>
            </a:solidFill>
            <a:prstDash val="solid"/>
          </a:ln>
        </p:spPr>
      </p:sp>
      <p:sp>
        <p:nvSpPr>
          <p:cNvPr id="19" name="Text 10"/>
          <p:cNvSpPr/>
          <p:nvPr/>
        </p:nvSpPr>
        <p:spPr>
          <a:xfrm>
            <a:off x="7783502" y="2068302"/>
            <a:ext cx="3482879" cy="25399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1B2D"/>
                </a:solidFill>
                <a:latin typeface="IBM Plex Sans" pitchFamily="34" charset="0"/>
                <a:ea typeface="IBM Plex Sans" pitchFamily="34" charset="-122"/>
                <a:cs typeface="IBM Plex Sans" pitchFamily="34" charset="-120"/>
              </a:rPr>
              <a:t>Pistes</a:t>
            </a:r>
            <a:endParaRPr lang="en-US" sz="1500" dirty="0"/>
          </a:p>
        </p:txBody>
      </p:sp>
      <p:sp>
        <p:nvSpPr>
          <p:cNvPr id="20" name="Text 11"/>
          <p:cNvSpPr/>
          <p:nvPr/>
        </p:nvSpPr>
        <p:spPr>
          <a:xfrm>
            <a:off x="7854622" y="2373064"/>
            <a:ext cx="3404139" cy="1092114"/>
          </a:xfrm>
          <a:prstGeom prst="rect">
            <a:avLst/>
          </a:prstGeom>
          <a:noFill/>
          <a:ln/>
        </p:spPr>
        <p:txBody>
          <a:bodyPr wrap="square" lIns="0" tIns="0" rIns="0" bIns="0" rtlCol="0" anchor="t">
            <a:normAutofit/>
          </a:bodyPr>
          <a:lstStyle/>
          <a:p>
            <a:pPr algn="l" marL="182880" indent="-182880">
              <a:lnSpc>
                <a:spcPts val="2100"/>
              </a:lnSpc>
              <a:buSzPct val="100000"/>
              <a:buChar char="•"/>
            </a:pPr>
            <a:r>
              <a:rPr lang="en-US" sz="1500" dirty="0">
                <a:solidFill>
                  <a:srgbClr val="46536A"/>
                </a:solidFill>
                <a:latin typeface="IBM Plex Sans" pitchFamily="34" charset="0"/>
                <a:ea typeface="IBM Plex Sans" pitchFamily="34" charset="-122"/>
                <a:cs typeface="IBM Plex Sans" pitchFamily="34" charset="-120"/>
              </a:rPr>
              <a:t>HTTPS sur Nginx</a:t>
            </a:r>
            <a:endParaRPr lang="en-US" sz="1500" dirty="0"/>
          </a:p>
          <a:p>
            <a:pPr algn="l" marL="182880" indent="-182880">
              <a:lnSpc>
                <a:spcPts val="2100"/>
              </a:lnSpc>
              <a:buSzPct val="100000"/>
              <a:buChar char="•"/>
            </a:pPr>
            <a:r>
              <a:rPr lang="en-US" sz="1500" dirty="0">
                <a:solidFill>
                  <a:srgbClr val="46536A"/>
                </a:solidFill>
                <a:latin typeface="IBM Plex Sans" pitchFamily="34" charset="0"/>
                <a:ea typeface="IBM Plex Sans" pitchFamily="34" charset="-122"/>
                <a:cs typeface="IBM Plex Sans" pitchFamily="34" charset="-120"/>
              </a:rPr>
              <a:t>Tokens en secrets Docker</a:t>
            </a:r>
            <a:endParaRPr lang="en-US" sz="1500" dirty="0"/>
          </a:p>
          <a:p>
            <a:pPr algn="l" marL="182880" indent="-182880">
              <a:lnSpc>
                <a:spcPts val="2100"/>
              </a:lnSpc>
              <a:buSzPct val="100000"/>
              <a:buChar char="•"/>
            </a:pPr>
            <a:r>
              <a:rPr lang="en-US" sz="1500" dirty="0">
                <a:solidFill>
                  <a:srgbClr val="46536A"/>
                </a:solidFill>
                <a:latin typeface="IBM Plex Sans" pitchFamily="34" charset="0"/>
                <a:ea typeface="IBM Plex Sans" pitchFamily="34" charset="-122"/>
                <a:cs typeface="IBM Plex Sans" pitchFamily="34" charset="-120"/>
              </a:rPr>
              <a:t>Visio : Mattermost Calls</a:t>
            </a:r>
            <a:endParaRPr lang="en-US" sz="1500" dirty="0"/>
          </a:p>
          <a:p>
            <a:pPr algn="l" marL="182880" indent="-182880">
              <a:lnSpc>
                <a:spcPts val="2100"/>
              </a:lnSpc>
              <a:buSzPct val="100000"/>
              <a:buChar char="•"/>
            </a:pPr>
            <a:r>
              <a:rPr lang="en-US" sz="1500" dirty="0">
                <a:solidFill>
                  <a:srgbClr val="46536A"/>
                </a:solidFill>
                <a:latin typeface="IBM Plex Sans" pitchFamily="34" charset="0"/>
                <a:ea typeface="IBM Plex Sans" pitchFamily="34" charset="-122"/>
                <a:cs typeface="IBM Plex Sans" pitchFamily="34" charset="-120"/>
              </a:rPr>
              <a:t>D’autres salons et messageries</a:t>
            </a:r>
            <a:endParaRPr lang="en-US" sz="1500" dirty="0"/>
          </a:p>
        </p:txBody>
      </p:sp>
      <p:sp>
        <p:nvSpPr>
          <p:cNvPr id="21" name="Text 12"/>
          <p:cNvSpPr/>
          <p:nvPr/>
        </p:nvSpPr>
        <p:spPr>
          <a:xfrm>
            <a:off x="7569254" y="3806366"/>
            <a:ext cx="3809930" cy="710998"/>
          </a:xfrm>
          <a:prstGeom prst="roundRect">
            <a:avLst>
              <a:gd name="adj" fmla="val 16076"/>
            </a:avLst>
          </a:prstGeom>
          <a:solidFill>
            <a:srgbClr val="2F6FED"/>
          </a:solidFill>
          <a:ln/>
        </p:spPr>
        <p:txBody>
          <a:bodyPr wrap="square" lIns="169641" tIns="169723" rIns="67529" bIns="144158" rtlCol="0" anchor="t">
            <a:normAutofit/>
          </a:bodyPr>
          <a:lstStyle/>
          <a:p>
            <a:pPr algn="l" indent="0" marL="0">
              <a:lnSpc>
                <a:spcPts val="2400"/>
              </a:lnSpc>
              <a:buNone/>
            </a:pPr>
            <a:r>
              <a:rPr lang="en-US" sz="2000" b="1" dirty="0">
                <a:solidFill>
                  <a:srgbClr val="F7F9FC"/>
                </a:solidFill>
                <a:latin typeface="IBM Plex Sans" pitchFamily="34" charset="0"/>
                <a:ea typeface="IBM Plex Sans" pitchFamily="34" charset="-122"/>
                <a:cs typeface="IBM Plex Sans" pitchFamily="34" charset="-120"/>
              </a:rPr>
              <a:t>Merci ! Des questions ?</a:t>
            </a:r>
            <a:endParaRPr lang="en-US" sz="2000" dirty="0"/>
          </a:p>
        </p:txBody>
      </p:sp>
      <p:sp>
        <p:nvSpPr>
          <p:cNvPr id="22" name="Text 13"/>
          <p:cNvSpPr/>
          <p:nvPr/>
        </p:nvSpPr>
        <p:spPr>
          <a:xfrm>
            <a:off x="812731" y="6235688"/>
            <a:ext cx="2760554" cy="24129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9"/>
                </a:solidFill>
                <a:latin typeface="IBM Plex Sans" pitchFamily="34" charset="0"/>
                <a:ea typeface="IBM Plex Sans" pitchFamily="34" charset="-122"/>
                <a:cs typeface="IBM Plex Sans" pitchFamily="34" charset="-120"/>
              </a:rPr>
              <a:t>IM Bridge · Mattermost ⇄ Discord</a:t>
            </a:r>
            <a:endParaRPr lang="en-US" sz="1200" dirty="0"/>
          </a:p>
        </p:txBody>
      </p:sp>
      <p:sp>
        <p:nvSpPr>
          <p:cNvPr id="23" name="Text 14"/>
          <p:cNvSpPr/>
          <p:nvPr/>
        </p:nvSpPr>
        <p:spPr>
          <a:xfrm>
            <a:off x="10783936" y="6235688"/>
            <a:ext cx="595162" cy="24129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9"/>
                </a:solidFill>
                <a:latin typeface="IBM Plex Sans" pitchFamily="34" charset="0"/>
                <a:ea typeface="IBM Plex Sans" pitchFamily="34" charset="-122"/>
                <a:cs typeface="IBM Plex Sans" pitchFamily="34" charset="-120"/>
              </a:rPr>
              <a:t>14 / 14</a:t>
            </a:r>
            <a:endParaRPr lang="en-US" sz="1200" dirty="0"/>
          </a:p>
        </p:txBody>
      </p:sp>
    </p:spTree>
  </p:cSld>
  <p:clrMapOvr>
    <a:masterClrMapping/>
  </p:clrMapOvr>
</p:sld>
</file>

<file path=ppt/theme/theme1.xml><?xml version="1.0" encoding="utf-8"?>
<a:theme xmlns:a="http://schemas.openxmlformats.org/drawingml/2006/main" name="IM Bridge — Mattermost ⇄ Discord">
  <a:themeElements>
    <a:clrScheme name="IM Bridge — Mattermost ⇄ Discord">
      <a:dk1>
        <a:srgbClr val="0F1B2D"/>
      </a:dk1>
      <a:lt1>
        <a:srgbClr val="F5F7FA"/>
      </a:lt1>
      <a:dk2>
        <a:srgbClr val="495260"/>
      </a:dk2>
      <a:lt2>
        <a:srgbClr val="DEE1E6"/>
      </a:lt2>
      <a:accent1>
        <a:srgbClr val="2F6FED"/>
      </a:accent1>
      <a:accent2>
        <a:srgbClr val="7FA8FF"/>
      </a:accent2>
      <a:accent3>
        <a:srgbClr val="E8833A"/>
      </a:accent3>
      <a:accent4>
        <a:srgbClr val="FCE3CC"/>
      </a:accent4>
      <a:accent5>
        <a:srgbClr val="B45309"/>
      </a:accent5>
      <a:accent6>
        <a:srgbClr val="46536A"/>
      </a:accent6>
      <a:hlink>
        <a:srgbClr val="0563C1"/>
      </a:hlink>
      <a:folHlink>
        <a:srgbClr val="954F72"/>
      </a:folHlink>
    </a:clrScheme>
    <a:fontScheme name="IM Bridge — Mattermost ⇄ Discord">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 Bridge — Mattermost ⇄ Discord</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2026-10-27T13:12:31Z</dcterms:created>
  <dcterms:modified xsi:type="dcterms:W3CDTF">2026-10-27T13:12:31Z</dcterms:modified>
</cp:coreProperties>
</file>